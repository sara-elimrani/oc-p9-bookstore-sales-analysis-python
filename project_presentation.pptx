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Poppins Bold" charset="1" panose="00000800000000000000"/>
      <p:regular r:id="rId25"/>
    </p:embeddedFont>
    <p:embeddedFont>
      <p:font typeface="Poppins" charset="1" panose="00000500000000000000"/>
      <p:regular r:id="rId26"/>
    </p:embeddedFont>
    <p:embeddedFont>
      <p:font typeface="Poppins Italics" charset="1" panose="00000500000000000000"/>
      <p:regular r:id="rId27"/>
    </p:embeddedFont>
    <p:embeddedFont>
      <p:font typeface="Helvetica World Bold" charset="1" panose="020B0800040000020004"/>
      <p:regular r:id="rId28"/>
    </p:embeddedFont>
    <p:embeddedFont>
      <p:font typeface="Arimo Bold" charset="1" panose="020B070402020202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8.png" Type="http://schemas.openxmlformats.org/officeDocument/2006/relationships/image"/><Relationship Id="rId12" Target="../media/image19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svg" Type="http://schemas.openxmlformats.org/officeDocument/2006/relationships/image"/><Relationship Id="rId12" Target="../media/image26.png" Type="http://schemas.openxmlformats.org/officeDocument/2006/relationships/image"/><Relationship Id="rId13" Target="../media/image27.png" Type="http://schemas.openxmlformats.org/officeDocument/2006/relationships/image"/><Relationship Id="rId14" Target="../media/image28.png" Type="http://schemas.openxmlformats.org/officeDocument/2006/relationships/image"/><Relationship Id="rId15" Target="../media/image29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svg" Type="http://schemas.openxmlformats.org/officeDocument/2006/relationships/image"/><Relationship Id="rId11" Target="../media/image42.png" Type="http://schemas.openxmlformats.org/officeDocument/2006/relationships/image"/><Relationship Id="rId12" Target="../media/image43.png" Type="http://schemas.openxmlformats.org/officeDocument/2006/relationships/image"/><Relationship Id="rId2" Target="../media/image33.jpeg" Type="http://schemas.openxmlformats.org/officeDocument/2006/relationships/image"/><Relationship Id="rId3" Target="../media/image34.png" Type="http://schemas.openxmlformats.org/officeDocument/2006/relationships/image"/><Relationship Id="rId4" Target="../media/image35.svg" Type="http://schemas.openxmlformats.org/officeDocument/2006/relationships/image"/><Relationship Id="rId5" Target="../media/image36.png" Type="http://schemas.openxmlformats.org/officeDocument/2006/relationships/image"/><Relationship Id="rId6" Target="../media/image37.svg" Type="http://schemas.openxmlformats.org/officeDocument/2006/relationships/image"/><Relationship Id="rId7" Target="../media/image38.png" Type="http://schemas.openxmlformats.org/officeDocument/2006/relationships/image"/><Relationship Id="rId8" Target="../media/image39.svg" Type="http://schemas.openxmlformats.org/officeDocument/2006/relationships/image"/><Relationship Id="rId9" Target="../media/image4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jpeg" Type="http://schemas.openxmlformats.org/officeDocument/2006/relationships/image"/><Relationship Id="rId3" Target="../media/image44.png" Type="http://schemas.openxmlformats.org/officeDocument/2006/relationships/image"/><Relationship Id="rId4" Target="../media/image4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jpeg" Type="http://schemas.openxmlformats.org/officeDocument/2006/relationships/image"/><Relationship Id="rId3" Target="../media/image4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jpeg" Type="http://schemas.openxmlformats.org/officeDocument/2006/relationships/image"/><Relationship Id="rId3" Target="../media/image48.png" Type="http://schemas.openxmlformats.org/officeDocument/2006/relationships/image"/><Relationship Id="rId4" Target="../media/image4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jpeg" Type="http://schemas.openxmlformats.org/officeDocument/2006/relationships/image"/><Relationship Id="rId3" Target="../media/image5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jpeg" Type="http://schemas.openxmlformats.org/officeDocument/2006/relationships/image"/><Relationship Id="rId3" Target="../media/image51.png" Type="http://schemas.openxmlformats.org/officeDocument/2006/relationships/image"/><Relationship Id="rId4" Target="../media/image52.png" Type="http://schemas.openxmlformats.org/officeDocument/2006/relationships/image"/><Relationship Id="rId5" Target="../media/image53.png" Type="http://schemas.openxmlformats.org/officeDocument/2006/relationships/image"/><Relationship Id="rId6" Target="../media/image5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jpeg" Type="http://schemas.openxmlformats.org/officeDocument/2006/relationships/image"/><Relationship Id="rId3" Target="../media/image55.png" Type="http://schemas.openxmlformats.org/officeDocument/2006/relationships/image"/><Relationship Id="rId4" Target="../media/image5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jpeg" Type="http://schemas.openxmlformats.org/officeDocument/2006/relationships/image"/><Relationship Id="rId3" Target="../media/image57.png" Type="http://schemas.openxmlformats.org/officeDocument/2006/relationships/image"/><Relationship Id="rId4" Target="../media/image5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jpeg" Type="http://schemas.openxmlformats.org/officeDocument/2006/relationships/image"/><Relationship Id="rId3" Target="../media/image59.png" Type="http://schemas.openxmlformats.org/officeDocument/2006/relationships/image"/><Relationship Id="rId4" Target="../media/image60.png" Type="http://schemas.openxmlformats.org/officeDocument/2006/relationships/image"/><Relationship Id="rId5" Target="../media/image61.png" Type="http://schemas.openxmlformats.org/officeDocument/2006/relationships/image"/><Relationship Id="rId6" Target="../media/image6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jpeg" Type="http://schemas.openxmlformats.org/officeDocument/2006/relationships/image"/><Relationship Id="rId3" Target="../media/image63.png" Type="http://schemas.openxmlformats.org/officeDocument/2006/relationships/image"/><Relationship Id="rId4" Target="../media/image64.png" Type="http://schemas.openxmlformats.org/officeDocument/2006/relationships/image"/><Relationship Id="rId5" Target="../media/image61.png" Type="http://schemas.openxmlformats.org/officeDocument/2006/relationships/image"/><Relationship Id="rId6" Target="../media/image62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jpeg" Type="http://schemas.openxmlformats.org/officeDocument/2006/relationships/image"/><Relationship Id="rId3" Target="../media/image61.png" Type="http://schemas.openxmlformats.org/officeDocument/2006/relationships/image"/><Relationship Id="rId4" Target="../media/image62.svg" Type="http://schemas.openxmlformats.org/officeDocument/2006/relationships/image"/><Relationship Id="rId5" Target="../media/image65.png" Type="http://schemas.openxmlformats.org/officeDocument/2006/relationships/image"/><Relationship Id="rId6" Target="../media/image6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jpeg" Type="http://schemas.openxmlformats.org/officeDocument/2006/relationships/image"/><Relationship Id="rId3" Target="../media/image67.png" Type="http://schemas.openxmlformats.org/officeDocument/2006/relationships/image"/><Relationship Id="rId4" Target="../media/image61.png" Type="http://schemas.openxmlformats.org/officeDocument/2006/relationships/image"/><Relationship Id="rId5" Target="../media/image62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8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27E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24064" y="6228323"/>
            <a:ext cx="8683635" cy="5320700"/>
          </a:xfrm>
          <a:custGeom>
            <a:avLst/>
            <a:gdLst/>
            <a:ahLst/>
            <a:cxnLst/>
            <a:rect r="r" b="b" t="t" l="l"/>
            <a:pathLst>
              <a:path h="5320700" w="8683635">
                <a:moveTo>
                  <a:pt x="0" y="0"/>
                </a:moveTo>
                <a:lnTo>
                  <a:pt x="8683635" y="0"/>
                </a:lnTo>
                <a:lnTo>
                  <a:pt x="8683635" y="5320700"/>
                </a:lnTo>
                <a:lnTo>
                  <a:pt x="0" y="5320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464085" y="2211113"/>
            <a:ext cx="8506491" cy="5864774"/>
            <a:chOff x="0" y="0"/>
            <a:chExt cx="2240393" cy="15446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40393" cy="1544632"/>
            </a:xfrm>
            <a:custGeom>
              <a:avLst/>
              <a:gdLst/>
              <a:ahLst/>
              <a:cxnLst/>
              <a:rect r="r" b="b" t="t" l="l"/>
              <a:pathLst>
                <a:path h="1544632" w="2240393">
                  <a:moveTo>
                    <a:pt x="40955" y="0"/>
                  </a:moveTo>
                  <a:lnTo>
                    <a:pt x="2199437" y="0"/>
                  </a:lnTo>
                  <a:cubicBezTo>
                    <a:pt x="2222056" y="0"/>
                    <a:pt x="2240393" y="18336"/>
                    <a:pt x="2240393" y="40955"/>
                  </a:cubicBezTo>
                  <a:lnTo>
                    <a:pt x="2240393" y="1503676"/>
                  </a:lnTo>
                  <a:cubicBezTo>
                    <a:pt x="2240393" y="1514538"/>
                    <a:pt x="2236078" y="1524956"/>
                    <a:pt x="2228397" y="1532636"/>
                  </a:cubicBezTo>
                  <a:cubicBezTo>
                    <a:pt x="2220717" y="1540317"/>
                    <a:pt x="2210299" y="1544632"/>
                    <a:pt x="2199437" y="1544632"/>
                  </a:cubicBezTo>
                  <a:lnTo>
                    <a:pt x="40955" y="1544632"/>
                  </a:lnTo>
                  <a:cubicBezTo>
                    <a:pt x="18336" y="1544632"/>
                    <a:pt x="0" y="1526295"/>
                    <a:pt x="0" y="1503676"/>
                  </a:cubicBezTo>
                  <a:lnTo>
                    <a:pt x="0" y="40955"/>
                  </a:lnTo>
                  <a:cubicBezTo>
                    <a:pt x="0" y="18336"/>
                    <a:pt x="18336" y="0"/>
                    <a:pt x="40955" y="0"/>
                  </a:cubicBezTo>
                  <a:close/>
                </a:path>
              </a:pathLst>
            </a:custGeom>
            <a:solidFill>
              <a:srgbClr val="E6B37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240393" cy="1592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291876" y="1827946"/>
            <a:ext cx="3591556" cy="3229732"/>
            <a:chOff x="0" y="0"/>
            <a:chExt cx="571087" cy="51355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71087" cy="513554"/>
            </a:xfrm>
            <a:custGeom>
              <a:avLst/>
              <a:gdLst/>
              <a:ahLst/>
              <a:cxnLst/>
              <a:rect r="r" b="b" t="t" l="l"/>
              <a:pathLst>
                <a:path h="513554" w="571087">
                  <a:moveTo>
                    <a:pt x="97002" y="0"/>
                  </a:moveTo>
                  <a:lnTo>
                    <a:pt x="474085" y="0"/>
                  </a:lnTo>
                  <a:cubicBezTo>
                    <a:pt x="499812" y="0"/>
                    <a:pt x="524485" y="10220"/>
                    <a:pt x="542676" y="28411"/>
                  </a:cubicBezTo>
                  <a:cubicBezTo>
                    <a:pt x="560867" y="46602"/>
                    <a:pt x="571087" y="71275"/>
                    <a:pt x="571087" y="97002"/>
                  </a:cubicBezTo>
                  <a:lnTo>
                    <a:pt x="571087" y="416552"/>
                  </a:lnTo>
                  <a:cubicBezTo>
                    <a:pt x="571087" y="442279"/>
                    <a:pt x="560867" y="466951"/>
                    <a:pt x="542676" y="485143"/>
                  </a:cubicBezTo>
                  <a:cubicBezTo>
                    <a:pt x="524485" y="503334"/>
                    <a:pt x="499812" y="513554"/>
                    <a:pt x="474085" y="513554"/>
                  </a:cubicBezTo>
                  <a:lnTo>
                    <a:pt x="97002" y="513554"/>
                  </a:lnTo>
                  <a:cubicBezTo>
                    <a:pt x="71275" y="513554"/>
                    <a:pt x="46602" y="503334"/>
                    <a:pt x="28411" y="485143"/>
                  </a:cubicBezTo>
                  <a:cubicBezTo>
                    <a:pt x="10220" y="466951"/>
                    <a:pt x="0" y="442279"/>
                    <a:pt x="0" y="416552"/>
                  </a:cubicBezTo>
                  <a:lnTo>
                    <a:pt x="0" y="97002"/>
                  </a:lnTo>
                  <a:cubicBezTo>
                    <a:pt x="0" y="71275"/>
                    <a:pt x="10220" y="46602"/>
                    <a:pt x="28411" y="28411"/>
                  </a:cubicBezTo>
                  <a:cubicBezTo>
                    <a:pt x="46602" y="10220"/>
                    <a:pt x="71275" y="0"/>
                    <a:pt x="97002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-176248" b="-10479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291876" y="5229322"/>
            <a:ext cx="3591556" cy="3229732"/>
            <a:chOff x="0" y="0"/>
            <a:chExt cx="571087" cy="5135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1087" cy="513554"/>
            </a:xfrm>
            <a:custGeom>
              <a:avLst/>
              <a:gdLst/>
              <a:ahLst/>
              <a:cxnLst/>
              <a:rect r="r" b="b" t="t" l="l"/>
              <a:pathLst>
                <a:path h="513554" w="571087">
                  <a:moveTo>
                    <a:pt x="97002" y="0"/>
                  </a:moveTo>
                  <a:lnTo>
                    <a:pt x="474085" y="0"/>
                  </a:lnTo>
                  <a:cubicBezTo>
                    <a:pt x="499812" y="0"/>
                    <a:pt x="524485" y="10220"/>
                    <a:pt x="542676" y="28411"/>
                  </a:cubicBezTo>
                  <a:cubicBezTo>
                    <a:pt x="560867" y="46602"/>
                    <a:pt x="571087" y="71275"/>
                    <a:pt x="571087" y="97002"/>
                  </a:cubicBezTo>
                  <a:lnTo>
                    <a:pt x="571087" y="416552"/>
                  </a:lnTo>
                  <a:cubicBezTo>
                    <a:pt x="571087" y="442279"/>
                    <a:pt x="560867" y="466951"/>
                    <a:pt x="542676" y="485143"/>
                  </a:cubicBezTo>
                  <a:cubicBezTo>
                    <a:pt x="524485" y="503334"/>
                    <a:pt x="499812" y="513554"/>
                    <a:pt x="474085" y="513554"/>
                  </a:cubicBezTo>
                  <a:lnTo>
                    <a:pt x="97002" y="513554"/>
                  </a:lnTo>
                  <a:cubicBezTo>
                    <a:pt x="71275" y="513554"/>
                    <a:pt x="46602" y="503334"/>
                    <a:pt x="28411" y="485143"/>
                  </a:cubicBezTo>
                  <a:cubicBezTo>
                    <a:pt x="10220" y="466951"/>
                    <a:pt x="0" y="442279"/>
                    <a:pt x="0" y="416552"/>
                  </a:cubicBezTo>
                  <a:lnTo>
                    <a:pt x="0" y="97002"/>
                  </a:lnTo>
                  <a:cubicBezTo>
                    <a:pt x="0" y="71275"/>
                    <a:pt x="10220" y="46602"/>
                    <a:pt x="28411" y="28411"/>
                  </a:cubicBezTo>
                  <a:cubicBezTo>
                    <a:pt x="46602" y="10220"/>
                    <a:pt x="71275" y="0"/>
                    <a:pt x="97002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05449" r="-177128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074306" y="1827946"/>
            <a:ext cx="3591556" cy="3229732"/>
            <a:chOff x="0" y="0"/>
            <a:chExt cx="571087" cy="51355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1087" cy="513554"/>
            </a:xfrm>
            <a:custGeom>
              <a:avLst/>
              <a:gdLst/>
              <a:ahLst/>
              <a:cxnLst/>
              <a:rect r="r" b="b" t="t" l="l"/>
              <a:pathLst>
                <a:path h="513554" w="571087">
                  <a:moveTo>
                    <a:pt x="97002" y="0"/>
                  </a:moveTo>
                  <a:lnTo>
                    <a:pt x="474085" y="0"/>
                  </a:lnTo>
                  <a:cubicBezTo>
                    <a:pt x="499812" y="0"/>
                    <a:pt x="524485" y="10220"/>
                    <a:pt x="542676" y="28411"/>
                  </a:cubicBezTo>
                  <a:cubicBezTo>
                    <a:pt x="560867" y="46602"/>
                    <a:pt x="571087" y="71275"/>
                    <a:pt x="571087" y="97002"/>
                  </a:cubicBezTo>
                  <a:lnTo>
                    <a:pt x="571087" y="416552"/>
                  </a:lnTo>
                  <a:cubicBezTo>
                    <a:pt x="571087" y="442279"/>
                    <a:pt x="560867" y="466951"/>
                    <a:pt x="542676" y="485143"/>
                  </a:cubicBezTo>
                  <a:cubicBezTo>
                    <a:pt x="524485" y="503334"/>
                    <a:pt x="499812" y="513554"/>
                    <a:pt x="474085" y="513554"/>
                  </a:cubicBezTo>
                  <a:lnTo>
                    <a:pt x="97002" y="513554"/>
                  </a:lnTo>
                  <a:cubicBezTo>
                    <a:pt x="71275" y="513554"/>
                    <a:pt x="46602" y="503334"/>
                    <a:pt x="28411" y="485143"/>
                  </a:cubicBezTo>
                  <a:cubicBezTo>
                    <a:pt x="10220" y="466951"/>
                    <a:pt x="0" y="442279"/>
                    <a:pt x="0" y="416552"/>
                  </a:cubicBezTo>
                  <a:lnTo>
                    <a:pt x="0" y="97002"/>
                  </a:lnTo>
                  <a:cubicBezTo>
                    <a:pt x="0" y="71275"/>
                    <a:pt x="10220" y="46602"/>
                    <a:pt x="28411" y="28411"/>
                  </a:cubicBezTo>
                  <a:cubicBezTo>
                    <a:pt x="46602" y="10220"/>
                    <a:pt x="71275" y="0"/>
                    <a:pt x="97002" y="0"/>
                  </a:cubicBezTo>
                  <a:close/>
                </a:path>
              </a:pathLst>
            </a:custGeom>
            <a:blipFill>
              <a:blip r:embed="rId4"/>
              <a:stretch>
                <a:fillRect l="-104612" t="0" r="-71196" b="-10447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074306" y="5229322"/>
            <a:ext cx="3591556" cy="3229732"/>
            <a:chOff x="0" y="0"/>
            <a:chExt cx="571087" cy="5135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1087" cy="513554"/>
            </a:xfrm>
            <a:custGeom>
              <a:avLst/>
              <a:gdLst/>
              <a:ahLst/>
              <a:cxnLst/>
              <a:rect r="r" b="b" t="t" l="l"/>
              <a:pathLst>
                <a:path h="513554" w="571087">
                  <a:moveTo>
                    <a:pt x="97002" y="0"/>
                  </a:moveTo>
                  <a:lnTo>
                    <a:pt x="474085" y="0"/>
                  </a:lnTo>
                  <a:cubicBezTo>
                    <a:pt x="499812" y="0"/>
                    <a:pt x="524485" y="10220"/>
                    <a:pt x="542676" y="28411"/>
                  </a:cubicBezTo>
                  <a:cubicBezTo>
                    <a:pt x="560867" y="46602"/>
                    <a:pt x="571087" y="71275"/>
                    <a:pt x="571087" y="97002"/>
                  </a:cubicBezTo>
                  <a:lnTo>
                    <a:pt x="571087" y="416552"/>
                  </a:lnTo>
                  <a:cubicBezTo>
                    <a:pt x="571087" y="442279"/>
                    <a:pt x="560867" y="466951"/>
                    <a:pt x="542676" y="485143"/>
                  </a:cubicBezTo>
                  <a:cubicBezTo>
                    <a:pt x="524485" y="503334"/>
                    <a:pt x="499812" y="513554"/>
                    <a:pt x="474085" y="513554"/>
                  </a:cubicBezTo>
                  <a:lnTo>
                    <a:pt x="97002" y="513554"/>
                  </a:lnTo>
                  <a:cubicBezTo>
                    <a:pt x="71275" y="513554"/>
                    <a:pt x="46602" y="503334"/>
                    <a:pt x="28411" y="485143"/>
                  </a:cubicBezTo>
                  <a:cubicBezTo>
                    <a:pt x="10220" y="466951"/>
                    <a:pt x="0" y="442279"/>
                    <a:pt x="0" y="416552"/>
                  </a:cubicBezTo>
                  <a:lnTo>
                    <a:pt x="0" y="97002"/>
                  </a:lnTo>
                  <a:cubicBezTo>
                    <a:pt x="0" y="71275"/>
                    <a:pt x="10220" y="46602"/>
                    <a:pt x="28411" y="28411"/>
                  </a:cubicBezTo>
                  <a:cubicBezTo>
                    <a:pt x="46602" y="10220"/>
                    <a:pt x="71275" y="0"/>
                    <a:pt x="97002" y="0"/>
                  </a:cubicBezTo>
                  <a:close/>
                </a:path>
              </a:pathLst>
            </a:custGeom>
            <a:blipFill>
              <a:blip r:embed="rId4"/>
              <a:stretch>
                <a:fillRect l="-104799" t="-105205" r="-71999" b="0"/>
              </a:stretch>
            </a:blipFill>
          </p:spPr>
        </p:sp>
      </p:grpSp>
      <p:sp>
        <p:nvSpPr>
          <p:cNvPr name="AutoShape 14" id="14"/>
          <p:cNvSpPr/>
          <p:nvPr/>
        </p:nvSpPr>
        <p:spPr>
          <a:xfrm>
            <a:off x="10331143" y="7095587"/>
            <a:ext cx="1248155" cy="0"/>
          </a:xfrm>
          <a:prstGeom prst="line">
            <a:avLst/>
          </a:prstGeom>
          <a:ln cap="rnd" w="57150">
            <a:solidFill>
              <a:srgbClr val="E6B37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028700" y="1028700"/>
            <a:ext cx="713864" cy="8229600"/>
            <a:chOff x="0" y="0"/>
            <a:chExt cx="188014" cy="216746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8014" cy="2167467"/>
            </a:xfrm>
            <a:custGeom>
              <a:avLst/>
              <a:gdLst/>
              <a:ahLst/>
              <a:cxnLst/>
              <a:rect r="r" b="b" t="t" l="l"/>
              <a:pathLst>
                <a:path h="2167467" w="188014">
                  <a:moveTo>
                    <a:pt x="94007" y="0"/>
                  </a:moveTo>
                  <a:lnTo>
                    <a:pt x="94007" y="0"/>
                  </a:lnTo>
                  <a:cubicBezTo>
                    <a:pt x="118939" y="0"/>
                    <a:pt x="142850" y="9904"/>
                    <a:pt x="160480" y="27534"/>
                  </a:cubicBezTo>
                  <a:cubicBezTo>
                    <a:pt x="178109" y="45164"/>
                    <a:pt x="188014" y="69075"/>
                    <a:pt x="188014" y="94007"/>
                  </a:cubicBezTo>
                  <a:lnTo>
                    <a:pt x="188014" y="2073460"/>
                  </a:lnTo>
                  <a:cubicBezTo>
                    <a:pt x="188014" y="2125378"/>
                    <a:pt x="145925" y="2167467"/>
                    <a:pt x="94007" y="2167467"/>
                  </a:cubicBezTo>
                  <a:lnTo>
                    <a:pt x="94007" y="2167467"/>
                  </a:lnTo>
                  <a:cubicBezTo>
                    <a:pt x="42088" y="2167467"/>
                    <a:pt x="0" y="2125378"/>
                    <a:pt x="0" y="2073460"/>
                  </a:cubicBezTo>
                  <a:lnTo>
                    <a:pt x="0" y="94007"/>
                  </a:lnTo>
                  <a:cubicBezTo>
                    <a:pt x="0" y="42088"/>
                    <a:pt x="42088" y="0"/>
                    <a:pt x="94007" y="0"/>
                  </a:cubicBezTo>
                  <a:close/>
                </a:path>
              </a:pathLst>
            </a:custGeom>
            <a:solidFill>
              <a:srgbClr val="A27E62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88014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AutoShape 18" id="18"/>
          <p:cNvSpPr/>
          <p:nvPr/>
        </p:nvSpPr>
        <p:spPr>
          <a:xfrm>
            <a:off x="1404682" y="2211113"/>
            <a:ext cx="0" cy="2109886"/>
          </a:xfrm>
          <a:prstGeom prst="line">
            <a:avLst/>
          </a:prstGeom>
          <a:ln cap="flat" w="38100">
            <a:solidFill>
              <a:srgbClr val="E6B37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140301" y="1408499"/>
            <a:ext cx="490663" cy="490663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B37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253038" y="1501264"/>
            <a:ext cx="265188" cy="305133"/>
          </a:xfrm>
          <a:custGeom>
            <a:avLst/>
            <a:gdLst/>
            <a:ahLst/>
            <a:cxnLst/>
            <a:rect r="r" b="b" t="t" l="l"/>
            <a:pathLst>
              <a:path h="305133" w="265188">
                <a:moveTo>
                  <a:pt x="0" y="0"/>
                </a:moveTo>
                <a:lnTo>
                  <a:pt x="265188" y="0"/>
                </a:lnTo>
                <a:lnTo>
                  <a:pt x="265188" y="305133"/>
                </a:lnTo>
                <a:lnTo>
                  <a:pt x="0" y="3051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6199643" y="1806397"/>
            <a:ext cx="1541866" cy="4634024"/>
          </a:xfrm>
          <a:custGeom>
            <a:avLst/>
            <a:gdLst/>
            <a:ahLst/>
            <a:cxnLst/>
            <a:rect r="r" b="b" t="t" l="l"/>
            <a:pathLst>
              <a:path h="4634024" w="1541866">
                <a:moveTo>
                  <a:pt x="0" y="0"/>
                </a:moveTo>
                <a:lnTo>
                  <a:pt x="1541866" y="0"/>
                </a:lnTo>
                <a:lnTo>
                  <a:pt x="1541866" y="4634024"/>
                </a:lnTo>
                <a:lnTo>
                  <a:pt x="0" y="46340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7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218312" y="3315432"/>
            <a:ext cx="6312281" cy="362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20"/>
              </a:lnSpc>
            </a:pPr>
            <a:r>
              <a:rPr lang="en-US" sz="6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Analys</a:t>
            </a:r>
            <a:r>
              <a:rPr lang="en-US" sz="6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 des ventes d’une librairie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331143" y="7181312"/>
            <a:ext cx="631228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avec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Python</a:t>
            </a:r>
          </a:p>
        </p:txBody>
      </p:sp>
      <p:sp>
        <p:nvSpPr>
          <p:cNvPr name="TextBox 26" id="26"/>
          <p:cNvSpPr txBox="true"/>
          <p:nvPr/>
        </p:nvSpPr>
        <p:spPr>
          <a:xfrm rot="-5400000">
            <a:off x="-861048" y="6491152"/>
            <a:ext cx="4426744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i="true" spc="406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EL IMRANI Sara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5308854" y="2800171"/>
            <a:ext cx="470084" cy="470084"/>
          </a:xfrm>
          <a:custGeom>
            <a:avLst/>
            <a:gdLst/>
            <a:ahLst/>
            <a:cxnLst/>
            <a:rect r="r" b="b" t="t" l="l"/>
            <a:pathLst>
              <a:path h="470084" w="470084">
                <a:moveTo>
                  <a:pt x="0" y="0"/>
                </a:moveTo>
                <a:lnTo>
                  <a:pt x="470084" y="0"/>
                </a:lnTo>
                <a:lnTo>
                  <a:pt x="470084" y="470084"/>
                </a:lnTo>
                <a:lnTo>
                  <a:pt x="0" y="47008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27E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48226" y="1476478"/>
            <a:ext cx="7041302" cy="7334044"/>
            <a:chOff x="0" y="0"/>
            <a:chExt cx="1069836" cy="11143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9836" cy="1114315"/>
            </a:xfrm>
            <a:custGeom>
              <a:avLst/>
              <a:gdLst/>
              <a:ahLst/>
              <a:cxnLst/>
              <a:rect r="r" b="b" t="t" l="l"/>
              <a:pathLst>
                <a:path h="1114315" w="1069836">
                  <a:moveTo>
                    <a:pt x="57174" y="0"/>
                  </a:moveTo>
                  <a:lnTo>
                    <a:pt x="1012662" y="0"/>
                  </a:lnTo>
                  <a:cubicBezTo>
                    <a:pt x="1027826" y="0"/>
                    <a:pt x="1042368" y="6024"/>
                    <a:pt x="1053090" y="16746"/>
                  </a:cubicBezTo>
                  <a:cubicBezTo>
                    <a:pt x="1063813" y="27468"/>
                    <a:pt x="1069836" y="42011"/>
                    <a:pt x="1069836" y="57174"/>
                  </a:cubicBezTo>
                  <a:lnTo>
                    <a:pt x="1069836" y="1057141"/>
                  </a:lnTo>
                  <a:cubicBezTo>
                    <a:pt x="1069836" y="1072304"/>
                    <a:pt x="1063813" y="1086847"/>
                    <a:pt x="1053090" y="1097569"/>
                  </a:cubicBezTo>
                  <a:cubicBezTo>
                    <a:pt x="1042368" y="1108291"/>
                    <a:pt x="1027826" y="1114315"/>
                    <a:pt x="1012662" y="1114315"/>
                  </a:cubicBezTo>
                  <a:lnTo>
                    <a:pt x="57174" y="1114315"/>
                  </a:lnTo>
                  <a:cubicBezTo>
                    <a:pt x="42011" y="1114315"/>
                    <a:pt x="27468" y="1108291"/>
                    <a:pt x="16746" y="1097569"/>
                  </a:cubicBezTo>
                  <a:cubicBezTo>
                    <a:pt x="6024" y="1086847"/>
                    <a:pt x="0" y="1072304"/>
                    <a:pt x="0" y="1057141"/>
                  </a:cubicBezTo>
                  <a:lnTo>
                    <a:pt x="0" y="57174"/>
                  </a:lnTo>
                  <a:cubicBezTo>
                    <a:pt x="0" y="42011"/>
                    <a:pt x="6024" y="27468"/>
                    <a:pt x="16746" y="16746"/>
                  </a:cubicBezTo>
                  <a:cubicBezTo>
                    <a:pt x="27468" y="6024"/>
                    <a:pt x="42011" y="0"/>
                    <a:pt x="5717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727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603823" y="2936409"/>
            <a:ext cx="10175115" cy="6321920"/>
            <a:chOff x="0" y="0"/>
            <a:chExt cx="2679866" cy="16650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79866" cy="1665032"/>
            </a:xfrm>
            <a:custGeom>
              <a:avLst/>
              <a:gdLst/>
              <a:ahLst/>
              <a:cxnLst/>
              <a:rect r="r" b="b" t="t" l="l"/>
              <a:pathLst>
                <a:path h="1665032" w="2679866">
                  <a:moveTo>
                    <a:pt x="34239" y="0"/>
                  </a:moveTo>
                  <a:lnTo>
                    <a:pt x="2645627" y="0"/>
                  </a:lnTo>
                  <a:cubicBezTo>
                    <a:pt x="2664536" y="0"/>
                    <a:pt x="2679866" y="15329"/>
                    <a:pt x="2679866" y="34239"/>
                  </a:cubicBezTo>
                  <a:lnTo>
                    <a:pt x="2679866" y="1630793"/>
                  </a:lnTo>
                  <a:cubicBezTo>
                    <a:pt x="2679866" y="1649703"/>
                    <a:pt x="2664536" y="1665032"/>
                    <a:pt x="2645627" y="1665032"/>
                  </a:cubicBezTo>
                  <a:lnTo>
                    <a:pt x="34239" y="1665032"/>
                  </a:lnTo>
                  <a:cubicBezTo>
                    <a:pt x="15329" y="1665032"/>
                    <a:pt x="0" y="1649703"/>
                    <a:pt x="0" y="1630793"/>
                  </a:cubicBezTo>
                  <a:lnTo>
                    <a:pt x="0" y="34239"/>
                  </a:lnTo>
                  <a:cubicBezTo>
                    <a:pt x="0" y="15329"/>
                    <a:pt x="15329" y="0"/>
                    <a:pt x="34239" y="0"/>
                  </a:cubicBezTo>
                  <a:close/>
                </a:path>
              </a:pathLst>
            </a:custGeom>
            <a:solidFill>
              <a:srgbClr val="E6B37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679866" cy="1712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735440" y="3066138"/>
            <a:ext cx="6941012" cy="6533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95"/>
              </a:lnSpc>
            </a:pPr>
          </a:p>
          <a:p>
            <a:pPr algn="l">
              <a:lnSpc>
                <a:spcPts val="3695"/>
              </a:lnSpc>
            </a:pPr>
            <a:r>
              <a:rPr lang="en-US" sz="263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Objectifs métier :</a:t>
            </a:r>
          </a:p>
          <a:p>
            <a:pPr algn="l" marL="569882" indent="-284941" lvl="1">
              <a:lnSpc>
                <a:spcPts val="3695"/>
              </a:lnSpc>
              <a:buFont typeface="Arial"/>
              <a:buChar char="•"/>
            </a:pPr>
            <a:r>
              <a:rPr lang="en-US" sz="26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Suivre l’évolution du chiffre d’affaires</a:t>
            </a:r>
          </a:p>
          <a:p>
            <a:pPr algn="l" marL="569882" indent="-284941" lvl="1">
              <a:lnSpc>
                <a:spcPts val="3695"/>
              </a:lnSpc>
              <a:buFont typeface="Arial"/>
              <a:buChar char="•"/>
            </a:pPr>
            <a:r>
              <a:rPr lang="en-US" sz="26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Identifier les produits performants</a:t>
            </a:r>
          </a:p>
          <a:p>
            <a:pPr algn="l" marL="569882" indent="-284941" lvl="1">
              <a:lnSpc>
                <a:spcPts val="3695"/>
              </a:lnSpc>
              <a:buFont typeface="Arial"/>
              <a:buChar char="•"/>
            </a:pPr>
            <a:r>
              <a:rPr lang="en-US" sz="26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6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omprendre le comportement des clients</a:t>
            </a:r>
          </a:p>
          <a:p>
            <a:pPr algn="l" marL="569882" indent="-284941" lvl="1">
              <a:lnSpc>
                <a:spcPts val="3695"/>
              </a:lnSpc>
              <a:buFont typeface="Arial"/>
              <a:buChar char="•"/>
            </a:pPr>
            <a:r>
              <a:rPr lang="en-US" sz="26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Aider à la prise de décision</a:t>
            </a:r>
          </a:p>
          <a:p>
            <a:pPr algn="l">
              <a:lnSpc>
                <a:spcPts val="3695"/>
              </a:lnSpc>
            </a:pPr>
          </a:p>
          <a:p>
            <a:pPr algn="l" marL="0" indent="0" lvl="0">
              <a:lnSpc>
                <a:spcPts val="3695"/>
              </a:lnSpc>
            </a:pPr>
            <a:r>
              <a:rPr lang="en-US" b="true" sz="263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Deux axes d’analyse :</a:t>
            </a:r>
          </a:p>
          <a:p>
            <a:pPr algn="l" marL="569882" indent="-284941" lvl="1">
              <a:lnSpc>
                <a:spcPts val="3695"/>
              </a:lnSpc>
              <a:buFont typeface="Arial"/>
              <a:buChar char="•"/>
            </a:pPr>
            <a:r>
              <a:rPr lang="en-US" sz="26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Analyse business des ventes</a:t>
            </a:r>
          </a:p>
          <a:p>
            <a:pPr algn="l" marL="569882" indent="-284941" lvl="1">
              <a:lnSpc>
                <a:spcPts val="3695"/>
              </a:lnSpc>
              <a:buFont typeface="Arial"/>
              <a:buChar char="•"/>
            </a:pPr>
            <a:r>
              <a:rPr lang="en-US" sz="26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Analy</a:t>
            </a:r>
            <a:r>
              <a:rPr lang="en-US" sz="26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 statistique des comportements clients</a:t>
            </a:r>
          </a:p>
          <a:p>
            <a:pPr algn="l">
              <a:lnSpc>
                <a:spcPts val="3695"/>
              </a:lnSpc>
            </a:pPr>
          </a:p>
          <a:p>
            <a:pPr algn="l">
              <a:lnSpc>
                <a:spcPts val="3695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096078" y="1963589"/>
            <a:ext cx="6580374" cy="972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Contexte 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545436" y="1028700"/>
            <a:ext cx="713864" cy="8229630"/>
            <a:chOff x="0" y="0"/>
            <a:chExt cx="951819" cy="1097284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951819" cy="10972840"/>
              <a:chOff x="0" y="0"/>
              <a:chExt cx="188014" cy="216747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88014" cy="2167474"/>
              </a:xfrm>
              <a:custGeom>
                <a:avLst/>
                <a:gdLst/>
                <a:ahLst/>
                <a:cxnLst/>
                <a:rect r="r" b="b" t="t" l="l"/>
                <a:pathLst>
                  <a:path h="2167474" w="188014">
                    <a:moveTo>
                      <a:pt x="94007" y="0"/>
                    </a:moveTo>
                    <a:lnTo>
                      <a:pt x="94007" y="0"/>
                    </a:lnTo>
                    <a:cubicBezTo>
                      <a:pt x="118939" y="0"/>
                      <a:pt x="142850" y="9904"/>
                      <a:pt x="160480" y="27534"/>
                    </a:cubicBezTo>
                    <a:cubicBezTo>
                      <a:pt x="178109" y="45164"/>
                      <a:pt x="188014" y="69075"/>
                      <a:pt x="188014" y="94007"/>
                    </a:cubicBezTo>
                    <a:lnTo>
                      <a:pt x="188014" y="2073468"/>
                    </a:lnTo>
                    <a:cubicBezTo>
                      <a:pt x="188014" y="2125386"/>
                      <a:pt x="145925" y="2167474"/>
                      <a:pt x="94007" y="2167474"/>
                    </a:cubicBezTo>
                    <a:lnTo>
                      <a:pt x="94007" y="2167474"/>
                    </a:lnTo>
                    <a:cubicBezTo>
                      <a:pt x="42088" y="2167474"/>
                      <a:pt x="0" y="2125386"/>
                      <a:pt x="0" y="2073468"/>
                    </a:cubicBezTo>
                    <a:lnTo>
                      <a:pt x="0" y="94007"/>
                    </a:lnTo>
                    <a:cubicBezTo>
                      <a:pt x="0" y="42088"/>
                      <a:pt x="42088" y="0"/>
                      <a:pt x="94007" y="0"/>
                    </a:cubicBezTo>
                    <a:close/>
                  </a:path>
                </a:pathLst>
              </a:custGeom>
              <a:solidFill>
                <a:srgbClr val="A27E62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85725"/>
                <a:ext cx="188014" cy="2253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AutoShape 13" id="13"/>
            <p:cNvSpPr/>
            <p:nvPr/>
          </p:nvSpPr>
          <p:spPr>
            <a:xfrm>
              <a:off x="501310" y="1576551"/>
              <a:ext cx="0" cy="2813181"/>
            </a:xfrm>
            <a:prstGeom prst="line">
              <a:avLst/>
            </a:prstGeom>
            <a:ln cap="flat" w="50800">
              <a:solidFill>
                <a:srgbClr val="E6B372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4" id="14"/>
            <p:cNvGrpSpPr/>
            <p:nvPr/>
          </p:nvGrpSpPr>
          <p:grpSpPr>
            <a:xfrm rot="0">
              <a:off x="148801" y="506399"/>
              <a:ext cx="654218" cy="654218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6B372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17" id="17"/>
            <p:cNvSpPr/>
            <p:nvPr/>
          </p:nvSpPr>
          <p:spPr>
            <a:xfrm flipH="false" flipV="false" rot="0">
              <a:off x="299118" y="630086"/>
              <a:ext cx="353584" cy="406844"/>
            </a:xfrm>
            <a:custGeom>
              <a:avLst/>
              <a:gdLst/>
              <a:ahLst/>
              <a:cxnLst/>
              <a:rect r="r" b="b" t="t" l="l"/>
              <a:pathLst>
                <a:path h="406844" w="353584">
                  <a:moveTo>
                    <a:pt x="0" y="0"/>
                  </a:moveTo>
                  <a:lnTo>
                    <a:pt x="353584" y="0"/>
                  </a:lnTo>
                  <a:lnTo>
                    <a:pt x="353584" y="406844"/>
                  </a:lnTo>
                  <a:lnTo>
                    <a:pt x="0" y="4068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-5400000">
              <a:off x="-2508550" y="7294420"/>
              <a:ext cx="5902325" cy="468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i="true" spc="406">
                  <a:solidFill>
                    <a:srgbClr val="00000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La Page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6013870" y="3491801"/>
            <a:ext cx="1313700" cy="3948279"/>
          </a:xfrm>
          <a:custGeom>
            <a:avLst/>
            <a:gdLst/>
            <a:ahLst/>
            <a:cxnLst/>
            <a:rect r="r" b="b" t="t" l="l"/>
            <a:pathLst>
              <a:path h="3948279" w="1313700">
                <a:moveTo>
                  <a:pt x="0" y="0"/>
                </a:moveTo>
                <a:lnTo>
                  <a:pt x="1313700" y="0"/>
                </a:lnTo>
                <a:lnTo>
                  <a:pt x="1313700" y="3948279"/>
                </a:lnTo>
                <a:lnTo>
                  <a:pt x="0" y="39482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27E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9730" y="2214990"/>
            <a:ext cx="9774083" cy="3452565"/>
            <a:chOff x="0" y="0"/>
            <a:chExt cx="13032111" cy="460342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547522" y="0"/>
              <a:ext cx="12484589" cy="4603421"/>
              <a:chOff x="0" y="0"/>
              <a:chExt cx="2466092" cy="909318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466092" cy="909318"/>
              </a:xfrm>
              <a:custGeom>
                <a:avLst/>
                <a:gdLst/>
                <a:ahLst/>
                <a:cxnLst/>
                <a:rect r="r" b="b" t="t" l="l"/>
                <a:pathLst>
                  <a:path h="909318" w="2466092">
                    <a:moveTo>
                      <a:pt x="37207" y="0"/>
                    </a:moveTo>
                    <a:lnTo>
                      <a:pt x="2428885" y="0"/>
                    </a:lnTo>
                    <a:cubicBezTo>
                      <a:pt x="2438752" y="0"/>
                      <a:pt x="2448216" y="3920"/>
                      <a:pt x="2455194" y="10898"/>
                    </a:cubicBezTo>
                    <a:cubicBezTo>
                      <a:pt x="2462172" y="17875"/>
                      <a:pt x="2466092" y="27339"/>
                      <a:pt x="2466092" y="37207"/>
                    </a:cubicBezTo>
                    <a:lnTo>
                      <a:pt x="2466092" y="872111"/>
                    </a:lnTo>
                    <a:cubicBezTo>
                      <a:pt x="2466092" y="881979"/>
                      <a:pt x="2462172" y="891442"/>
                      <a:pt x="2455194" y="898420"/>
                    </a:cubicBezTo>
                    <a:cubicBezTo>
                      <a:pt x="2448216" y="905398"/>
                      <a:pt x="2438752" y="909318"/>
                      <a:pt x="2428885" y="909318"/>
                    </a:cubicBezTo>
                    <a:lnTo>
                      <a:pt x="37207" y="909318"/>
                    </a:lnTo>
                    <a:cubicBezTo>
                      <a:pt x="16658" y="909318"/>
                      <a:pt x="0" y="892659"/>
                      <a:pt x="0" y="872111"/>
                    </a:cubicBezTo>
                    <a:lnTo>
                      <a:pt x="0" y="37207"/>
                    </a:lnTo>
                    <a:cubicBezTo>
                      <a:pt x="0" y="27339"/>
                      <a:pt x="3920" y="17875"/>
                      <a:pt x="10898" y="10898"/>
                    </a:cubicBezTo>
                    <a:cubicBezTo>
                      <a:pt x="17875" y="3920"/>
                      <a:pt x="27339" y="0"/>
                      <a:pt x="37207" y="0"/>
                    </a:cubicBezTo>
                    <a:close/>
                  </a:path>
                </a:pathLst>
              </a:custGeom>
              <a:solidFill>
                <a:srgbClr val="E6B37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85725"/>
                <a:ext cx="2466092" cy="9950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225679"/>
              <a:ext cx="1095043" cy="1095043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6B372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283922" y="1509600"/>
              <a:ext cx="527200" cy="527200"/>
            </a:xfrm>
            <a:custGeom>
              <a:avLst/>
              <a:gdLst/>
              <a:ahLst/>
              <a:cxnLst/>
              <a:rect r="r" b="b" t="t" l="l"/>
              <a:pathLst>
                <a:path h="527200" w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200"/>
                  </a:lnTo>
                  <a:lnTo>
                    <a:pt x="0" y="5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476338" y="2307418"/>
            <a:ext cx="8002180" cy="3201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Ana</a:t>
            </a:r>
            <a:r>
              <a:rPr lang="en-US" sz="25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lyse business</a:t>
            </a:r>
          </a:p>
          <a:p>
            <a:pPr algn="l">
              <a:lnSpc>
                <a:spcPts val="3639"/>
              </a:lnSpc>
            </a:pP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Étudier l’évolution du chiffre d’affaires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Identifier </a:t>
            </a: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les tops/flops produits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Étudier les catégories de produits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Analyser la répartition des clients</a:t>
            </a:r>
          </a:p>
          <a:p>
            <a:pPr algn="l">
              <a:lnSpc>
                <a:spcPts val="363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458826" y="747474"/>
            <a:ext cx="4827945" cy="1029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</a:t>
            </a:r>
            <a:r>
              <a:rPr lang="en-US" sz="6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bjectifs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2499004" y="2729434"/>
            <a:ext cx="4760296" cy="6230754"/>
          </a:xfrm>
          <a:custGeom>
            <a:avLst/>
            <a:gdLst/>
            <a:ahLst/>
            <a:cxnLst/>
            <a:rect r="r" b="b" t="t" l="l"/>
            <a:pathLst>
              <a:path h="6230754" w="4760296">
                <a:moveTo>
                  <a:pt x="0" y="0"/>
                </a:moveTo>
                <a:lnTo>
                  <a:pt x="4760296" y="0"/>
                </a:lnTo>
                <a:lnTo>
                  <a:pt x="4760296" y="6230754"/>
                </a:lnTo>
                <a:lnTo>
                  <a:pt x="0" y="62307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810371" y="5881671"/>
            <a:ext cx="9363442" cy="3925207"/>
            <a:chOff x="0" y="0"/>
            <a:chExt cx="2466092" cy="10337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66092" cy="1033799"/>
            </a:xfrm>
            <a:custGeom>
              <a:avLst/>
              <a:gdLst/>
              <a:ahLst/>
              <a:cxnLst/>
              <a:rect r="r" b="b" t="t" l="l"/>
              <a:pathLst>
                <a:path h="1033799" w="2466092">
                  <a:moveTo>
                    <a:pt x="37207" y="0"/>
                  </a:moveTo>
                  <a:lnTo>
                    <a:pt x="2428885" y="0"/>
                  </a:lnTo>
                  <a:cubicBezTo>
                    <a:pt x="2438752" y="0"/>
                    <a:pt x="2448216" y="3920"/>
                    <a:pt x="2455194" y="10898"/>
                  </a:cubicBezTo>
                  <a:cubicBezTo>
                    <a:pt x="2462172" y="17875"/>
                    <a:pt x="2466092" y="27339"/>
                    <a:pt x="2466092" y="37207"/>
                  </a:cubicBezTo>
                  <a:lnTo>
                    <a:pt x="2466092" y="996592"/>
                  </a:lnTo>
                  <a:cubicBezTo>
                    <a:pt x="2466092" y="1017141"/>
                    <a:pt x="2449434" y="1033799"/>
                    <a:pt x="2428885" y="1033799"/>
                  </a:cubicBezTo>
                  <a:lnTo>
                    <a:pt x="37207" y="1033799"/>
                  </a:lnTo>
                  <a:cubicBezTo>
                    <a:pt x="27339" y="1033799"/>
                    <a:pt x="17875" y="1029879"/>
                    <a:pt x="10898" y="1022902"/>
                  </a:cubicBezTo>
                  <a:cubicBezTo>
                    <a:pt x="3920" y="1015924"/>
                    <a:pt x="0" y="1006460"/>
                    <a:pt x="0" y="996592"/>
                  </a:cubicBezTo>
                  <a:lnTo>
                    <a:pt x="0" y="37207"/>
                  </a:lnTo>
                  <a:cubicBezTo>
                    <a:pt x="0" y="27339"/>
                    <a:pt x="3920" y="17875"/>
                    <a:pt x="10898" y="10898"/>
                  </a:cubicBezTo>
                  <a:cubicBezTo>
                    <a:pt x="17875" y="3920"/>
                    <a:pt x="27339" y="0"/>
                    <a:pt x="37207" y="0"/>
                  </a:cubicBezTo>
                  <a:close/>
                </a:path>
              </a:pathLst>
            </a:custGeom>
            <a:solidFill>
              <a:srgbClr val="E6B37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466092" cy="10814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99730" y="6800930"/>
            <a:ext cx="821282" cy="821282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B37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612671" y="7013871"/>
            <a:ext cx="395400" cy="395400"/>
          </a:xfrm>
          <a:custGeom>
            <a:avLst/>
            <a:gdLst/>
            <a:ahLst/>
            <a:cxnLst/>
            <a:rect r="r" b="b" t="t" l="l"/>
            <a:pathLst>
              <a:path h="395400" w="395400">
                <a:moveTo>
                  <a:pt x="0" y="0"/>
                </a:moveTo>
                <a:lnTo>
                  <a:pt x="395400" y="0"/>
                </a:lnTo>
                <a:lnTo>
                  <a:pt x="395400" y="395400"/>
                </a:lnTo>
                <a:lnTo>
                  <a:pt x="0" y="39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476338" y="6009631"/>
            <a:ext cx="8276468" cy="365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Ana</a:t>
            </a:r>
            <a:r>
              <a:rPr lang="en-US" sz="25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lyse statistique</a:t>
            </a:r>
          </a:p>
          <a:p>
            <a:pPr algn="l">
              <a:lnSpc>
                <a:spcPts val="3639"/>
              </a:lnSpc>
            </a:pPr>
          </a:p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Étudier les relations entre :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Âge </a:t>
            </a: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et montant</a:t>
            </a: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des achats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Âge et catégor</a:t>
            </a: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ies achetées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Sexe et catégories achetées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Fréquence d’achat et comportement client</a:t>
            </a:r>
          </a:p>
          <a:p>
            <a:pPr algn="l">
              <a:lnSpc>
                <a:spcPts val="363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27E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31233" y="4583121"/>
            <a:ext cx="6618156" cy="6231695"/>
          </a:xfrm>
          <a:custGeom>
            <a:avLst/>
            <a:gdLst/>
            <a:ahLst/>
            <a:cxnLst/>
            <a:rect r="r" b="b" t="t" l="l"/>
            <a:pathLst>
              <a:path h="6231695" w="6618156">
                <a:moveTo>
                  <a:pt x="0" y="0"/>
                </a:moveTo>
                <a:lnTo>
                  <a:pt x="6618157" y="0"/>
                </a:lnTo>
                <a:lnTo>
                  <a:pt x="6618157" y="6231694"/>
                </a:lnTo>
                <a:lnTo>
                  <a:pt x="0" y="62316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7948291" y="1385364"/>
            <a:ext cx="8565884" cy="7516273"/>
            <a:chOff x="0" y="0"/>
            <a:chExt cx="2256035" cy="19795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56035" cy="1979594"/>
            </a:xfrm>
            <a:custGeom>
              <a:avLst/>
              <a:gdLst/>
              <a:ahLst/>
              <a:cxnLst/>
              <a:rect r="r" b="b" t="t" l="l"/>
              <a:pathLst>
                <a:path h="1979594" w="2256035">
                  <a:moveTo>
                    <a:pt x="40671" y="0"/>
                  </a:moveTo>
                  <a:lnTo>
                    <a:pt x="2215364" y="0"/>
                  </a:lnTo>
                  <a:cubicBezTo>
                    <a:pt x="2226151" y="0"/>
                    <a:pt x="2236496" y="4285"/>
                    <a:pt x="2244123" y="11912"/>
                  </a:cubicBezTo>
                  <a:cubicBezTo>
                    <a:pt x="2251750" y="19540"/>
                    <a:pt x="2256035" y="29885"/>
                    <a:pt x="2256035" y="40671"/>
                  </a:cubicBezTo>
                  <a:lnTo>
                    <a:pt x="2256035" y="1938923"/>
                  </a:lnTo>
                  <a:cubicBezTo>
                    <a:pt x="2256035" y="1949710"/>
                    <a:pt x="2251750" y="1960055"/>
                    <a:pt x="2244123" y="1967682"/>
                  </a:cubicBezTo>
                  <a:cubicBezTo>
                    <a:pt x="2236496" y="1975309"/>
                    <a:pt x="2226151" y="1979594"/>
                    <a:pt x="2215364" y="1979594"/>
                  </a:cubicBezTo>
                  <a:lnTo>
                    <a:pt x="40671" y="1979594"/>
                  </a:lnTo>
                  <a:cubicBezTo>
                    <a:pt x="29885" y="1979594"/>
                    <a:pt x="19540" y="1975309"/>
                    <a:pt x="11912" y="1967682"/>
                  </a:cubicBezTo>
                  <a:cubicBezTo>
                    <a:pt x="4285" y="1960055"/>
                    <a:pt x="0" y="1949710"/>
                    <a:pt x="0" y="1938923"/>
                  </a:cubicBezTo>
                  <a:lnTo>
                    <a:pt x="0" y="40671"/>
                  </a:lnTo>
                  <a:cubicBezTo>
                    <a:pt x="0" y="29885"/>
                    <a:pt x="4285" y="19540"/>
                    <a:pt x="11912" y="11912"/>
                  </a:cubicBezTo>
                  <a:cubicBezTo>
                    <a:pt x="19540" y="4285"/>
                    <a:pt x="29885" y="0"/>
                    <a:pt x="40671" y="0"/>
                  </a:cubicBezTo>
                  <a:close/>
                </a:path>
              </a:pathLst>
            </a:custGeom>
            <a:solidFill>
              <a:srgbClr val="E6B37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256035" cy="20272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980189" y="4914159"/>
            <a:ext cx="6180939" cy="2571700"/>
            <a:chOff x="0" y="0"/>
            <a:chExt cx="735876" cy="3061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5876" cy="306175"/>
            </a:xfrm>
            <a:custGeom>
              <a:avLst/>
              <a:gdLst/>
              <a:ahLst/>
              <a:cxnLst/>
              <a:rect r="r" b="b" t="t" l="l"/>
              <a:pathLst>
                <a:path h="306175" w="735876">
                  <a:moveTo>
                    <a:pt x="62627" y="0"/>
                  </a:moveTo>
                  <a:lnTo>
                    <a:pt x="673248" y="0"/>
                  </a:lnTo>
                  <a:cubicBezTo>
                    <a:pt x="707837" y="0"/>
                    <a:pt x="735876" y="28039"/>
                    <a:pt x="735876" y="62627"/>
                  </a:cubicBezTo>
                  <a:lnTo>
                    <a:pt x="735876" y="243548"/>
                  </a:lnTo>
                  <a:cubicBezTo>
                    <a:pt x="735876" y="278136"/>
                    <a:pt x="707837" y="306175"/>
                    <a:pt x="673248" y="306175"/>
                  </a:cubicBezTo>
                  <a:lnTo>
                    <a:pt x="62627" y="306175"/>
                  </a:lnTo>
                  <a:cubicBezTo>
                    <a:pt x="28039" y="306175"/>
                    <a:pt x="0" y="278136"/>
                    <a:pt x="0" y="243548"/>
                  </a:cubicBezTo>
                  <a:lnTo>
                    <a:pt x="0" y="62627"/>
                  </a:lnTo>
                  <a:cubicBezTo>
                    <a:pt x="0" y="28039"/>
                    <a:pt x="28039" y="0"/>
                    <a:pt x="62627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-255792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537650" y="2202203"/>
            <a:ext cx="821282" cy="765677"/>
            <a:chOff x="0" y="0"/>
            <a:chExt cx="812800" cy="7577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757769"/>
            </a:xfrm>
            <a:custGeom>
              <a:avLst/>
              <a:gdLst/>
              <a:ahLst/>
              <a:cxnLst/>
              <a:rect r="r" b="b" t="t" l="l"/>
              <a:pathLst>
                <a:path h="757769" w="812800">
                  <a:moveTo>
                    <a:pt x="406400" y="0"/>
                  </a:moveTo>
                  <a:cubicBezTo>
                    <a:pt x="181951" y="0"/>
                    <a:pt x="0" y="169632"/>
                    <a:pt x="0" y="378885"/>
                  </a:cubicBezTo>
                  <a:cubicBezTo>
                    <a:pt x="0" y="588137"/>
                    <a:pt x="181951" y="757769"/>
                    <a:pt x="406400" y="757769"/>
                  </a:cubicBezTo>
                  <a:cubicBezTo>
                    <a:pt x="630849" y="757769"/>
                    <a:pt x="812800" y="588137"/>
                    <a:pt x="812800" y="378885"/>
                  </a:cubicBezTo>
                  <a:cubicBezTo>
                    <a:pt x="812800" y="16963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B37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3416"/>
              <a:ext cx="660400" cy="6633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760694" y="2387342"/>
            <a:ext cx="395400" cy="395400"/>
          </a:xfrm>
          <a:custGeom>
            <a:avLst/>
            <a:gdLst/>
            <a:ahLst/>
            <a:cxnLst/>
            <a:rect r="r" b="b" t="t" l="l"/>
            <a:pathLst>
              <a:path h="395400" w="395400">
                <a:moveTo>
                  <a:pt x="0" y="0"/>
                </a:moveTo>
                <a:lnTo>
                  <a:pt x="395400" y="0"/>
                </a:lnTo>
                <a:lnTo>
                  <a:pt x="395400" y="395400"/>
                </a:lnTo>
                <a:lnTo>
                  <a:pt x="0" y="3954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6895175" y="1028670"/>
            <a:ext cx="713864" cy="8229630"/>
            <a:chOff x="0" y="0"/>
            <a:chExt cx="951819" cy="1097284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951819" cy="10972840"/>
              <a:chOff x="0" y="0"/>
              <a:chExt cx="188014" cy="2167475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88014" cy="2167474"/>
              </a:xfrm>
              <a:custGeom>
                <a:avLst/>
                <a:gdLst/>
                <a:ahLst/>
                <a:cxnLst/>
                <a:rect r="r" b="b" t="t" l="l"/>
                <a:pathLst>
                  <a:path h="2167474" w="188014">
                    <a:moveTo>
                      <a:pt x="94007" y="0"/>
                    </a:moveTo>
                    <a:lnTo>
                      <a:pt x="94007" y="0"/>
                    </a:lnTo>
                    <a:cubicBezTo>
                      <a:pt x="118939" y="0"/>
                      <a:pt x="142850" y="9904"/>
                      <a:pt x="160480" y="27534"/>
                    </a:cubicBezTo>
                    <a:cubicBezTo>
                      <a:pt x="178109" y="45164"/>
                      <a:pt x="188014" y="69075"/>
                      <a:pt x="188014" y="94007"/>
                    </a:cubicBezTo>
                    <a:lnTo>
                      <a:pt x="188014" y="2073468"/>
                    </a:lnTo>
                    <a:cubicBezTo>
                      <a:pt x="188014" y="2125386"/>
                      <a:pt x="145925" y="2167474"/>
                      <a:pt x="94007" y="2167474"/>
                    </a:cubicBezTo>
                    <a:lnTo>
                      <a:pt x="94007" y="2167474"/>
                    </a:lnTo>
                    <a:cubicBezTo>
                      <a:pt x="42088" y="2167474"/>
                      <a:pt x="0" y="2125386"/>
                      <a:pt x="0" y="2073468"/>
                    </a:cubicBezTo>
                    <a:lnTo>
                      <a:pt x="0" y="94007"/>
                    </a:lnTo>
                    <a:cubicBezTo>
                      <a:pt x="0" y="42088"/>
                      <a:pt x="42088" y="0"/>
                      <a:pt x="94007" y="0"/>
                    </a:cubicBezTo>
                    <a:close/>
                  </a:path>
                </a:pathLst>
              </a:custGeom>
              <a:solidFill>
                <a:srgbClr val="A27E62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85725"/>
                <a:ext cx="188014" cy="2253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AutoShape 16" id="16"/>
            <p:cNvSpPr/>
            <p:nvPr/>
          </p:nvSpPr>
          <p:spPr>
            <a:xfrm>
              <a:off x="501310" y="1576551"/>
              <a:ext cx="0" cy="2813181"/>
            </a:xfrm>
            <a:prstGeom prst="line">
              <a:avLst/>
            </a:prstGeom>
            <a:ln cap="flat" w="50800">
              <a:solidFill>
                <a:srgbClr val="E6B372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7" id="17"/>
            <p:cNvGrpSpPr/>
            <p:nvPr/>
          </p:nvGrpSpPr>
          <p:grpSpPr>
            <a:xfrm rot="0">
              <a:off x="148801" y="506399"/>
              <a:ext cx="654218" cy="654218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6B372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20" id="20"/>
            <p:cNvSpPr/>
            <p:nvPr/>
          </p:nvSpPr>
          <p:spPr>
            <a:xfrm flipH="false" flipV="false" rot="0">
              <a:off x="299118" y="630086"/>
              <a:ext cx="353584" cy="406844"/>
            </a:xfrm>
            <a:custGeom>
              <a:avLst/>
              <a:gdLst/>
              <a:ahLst/>
              <a:cxnLst/>
              <a:rect r="r" b="b" t="t" l="l"/>
              <a:pathLst>
                <a:path h="406844" w="353584">
                  <a:moveTo>
                    <a:pt x="0" y="0"/>
                  </a:moveTo>
                  <a:lnTo>
                    <a:pt x="353584" y="0"/>
                  </a:lnTo>
                  <a:lnTo>
                    <a:pt x="353584" y="406844"/>
                  </a:lnTo>
                  <a:lnTo>
                    <a:pt x="0" y="4068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-5400000">
              <a:off x="-2508550" y="7294420"/>
              <a:ext cx="5902325" cy="468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i="true" spc="406">
                  <a:solidFill>
                    <a:srgbClr val="00000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La Page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793658" y="2782742"/>
            <a:ext cx="470084" cy="470084"/>
          </a:xfrm>
          <a:custGeom>
            <a:avLst/>
            <a:gdLst/>
            <a:ahLst/>
            <a:cxnLst/>
            <a:rect r="r" b="b" t="t" l="l"/>
            <a:pathLst>
              <a:path h="470084" w="470084">
                <a:moveTo>
                  <a:pt x="0" y="0"/>
                </a:moveTo>
                <a:lnTo>
                  <a:pt x="470084" y="0"/>
                </a:lnTo>
                <a:lnTo>
                  <a:pt x="470084" y="470084"/>
                </a:lnTo>
                <a:lnTo>
                  <a:pt x="0" y="47008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3" id="23"/>
          <p:cNvSpPr/>
          <p:nvPr/>
        </p:nvSpPr>
        <p:spPr>
          <a:xfrm flipH="false" flipV="false" rot="3146531">
            <a:off x="7257589" y="3016439"/>
            <a:ext cx="1006210" cy="1794251"/>
          </a:xfrm>
          <a:custGeom>
            <a:avLst/>
            <a:gdLst/>
            <a:ahLst/>
            <a:cxnLst/>
            <a:rect r="r" b="b" t="t" l="l"/>
            <a:pathLst>
              <a:path h="1794251" w="1006210">
                <a:moveTo>
                  <a:pt x="0" y="0"/>
                </a:moveTo>
                <a:lnTo>
                  <a:pt x="1006210" y="0"/>
                </a:lnTo>
                <a:lnTo>
                  <a:pt x="1006210" y="1794252"/>
                </a:lnTo>
                <a:lnTo>
                  <a:pt x="0" y="179425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299746" y="2585042"/>
            <a:ext cx="6658648" cy="1029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</a:t>
            </a:r>
            <a:r>
              <a:rPr lang="en-US" sz="6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Sources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865977" y="1638987"/>
            <a:ext cx="7323716" cy="7009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65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J</a:t>
            </a:r>
            <a:r>
              <a:rPr lang="en-US" sz="265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eux de données</a:t>
            </a:r>
          </a:p>
          <a:p>
            <a:pPr algn="l">
              <a:lnSpc>
                <a:spcPts val="3712"/>
              </a:lnSpc>
            </a:pPr>
          </a:p>
          <a:p>
            <a:pPr algn="l">
              <a:lnSpc>
                <a:spcPts val="3712"/>
              </a:lnSpc>
            </a:pPr>
            <a:r>
              <a:rPr lang="en-US" sz="265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3 fichiers CSV :</a:t>
            </a:r>
          </a:p>
          <a:p>
            <a:pPr algn="l" marL="572450" indent="-286225" lvl="1">
              <a:lnSpc>
                <a:spcPts val="3712"/>
              </a:lnSpc>
              <a:buFont typeface="Arial"/>
              <a:buChar char="•"/>
            </a:pPr>
            <a:r>
              <a:rPr lang="en-US" sz="265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Transactions</a:t>
            </a:r>
          </a:p>
          <a:p>
            <a:pPr algn="l" marL="572450" indent="-286225" lvl="1">
              <a:lnSpc>
                <a:spcPts val="3712"/>
              </a:lnSpc>
              <a:buFont typeface="Arial"/>
              <a:buChar char="•"/>
            </a:pPr>
            <a:r>
              <a:rPr lang="en-US" sz="265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Produits</a:t>
            </a:r>
          </a:p>
          <a:p>
            <a:pPr algn="l" marL="572450" indent="-286225" lvl="1">
              <a:lnSpc>
                <a:spcPts val="3712"/>
              </a:lnSpc>
              <a:buFont typeface="Arial"/>
              <a:buChar char="•"/>
            </a:pPr>
            <a:r>
              <a:rPr lang="en-US" sz="265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Clients</a:t>
            </a:r>
          </a:p>
          <a:p>
            <a:pPr algn="l">
              <a:lnSpc>
                <a:spcPts val="3712"/>
              </a:lnSpc>
            </a:pPr>
          </a:p>
          <a:p>
            <a:pPr algn="l">
              <a:lnSpc>
                <a:spcPts val="3712"/>
              </a:lnSpc>
            </a:pPr>
            <a:r>
              <a:rPr lang="en-US" sz="265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Préparation des données</a:t>
            </a:r>
          </a:p>
          <a:p>
            <a:pPr algn="l" marL="572450" indent="-286225" lvl="1">
              <a:lnSpc>
                <a:spcPts val="3712"/>
              </a:lnSpc>
              <a:buFont typeface="Arial"/>
              <a:buChar char="•"/>
            </a:pPr>
            <a:r>
              <a:rPr lang="en-US" sz="265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65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ettoyage des valeurs</a:t>
            </a:r>
          </a:p>
          <a:p>
            <a:pPr algn="l" marL="572450" indent="-286225" lvl="1">
              <a:lnSpc>
                <a:spcPts val="3712"/>
              </a:lnSpc>
              <a:buFont typeface="Arial"/>
              <a:buChar char="•"/>
            </a:pPr>
            <a:r>
              <a:rPr lang="en-US" sz="265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</a:t>
            </a:r>
            <a:r>
              <a:rPr lang="en-US" sz="265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ointures des tables</a:t>
            </a:r>
          </a:p>
          <a:p>
            <a:pPr algn="l" marL="572450" indent="-286225" lvl="1">
              <a:lnSpc>
                <a:spcPts val="3712"/>
              </a:lnSpc>
              <a:buFont typeface="Arial"/>
              <a:buChar char="•"/>
            </a:pPr>
            <a:r>
              <a:rPr lang="en-US" sz="265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65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réation de variables utiles</a:t>
            </a:r>
          </a:p>
          <a:p>
            <a:pPr algn="l" marL="572450" indent="-286225" lvl="1">
              <a:lnSpc>
                <a:spcPts val="3712"/>
              </a:lnSpc>
              <a:buFont typeface="Arial"/>
              <a:buChar char="•"/>
            </a:pPr>
            <a:r>
              <a:rPr lang="en-US" sz="265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65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onversion des dates</a:t>
            </a:r>
          </a:p>
          <a:p>
            <a:pPr algn="l" marL="572450" indent="-286225" lvl="1">
              <a:lnSpc>
                <a:spcPts val="3712"/>
              </a:lnSpc>
              <a:buFont typeface="Arial"/>
              <a:buChar char="•"/>
            </a:pPr>
            <a:r>
              <a:rPr lang="en-US" sz="265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Excl</a:t>
            </a:r>
            <a:r>
              <a:rPr lang="en-US" sz="265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usion des clients BtoB pour les tests statistiques</a:t>
            </a:r>
          </a:p>
          <a:p>
            <a:pPr algn="l">
              <a:lnSpc>
                <a:spcPts val="3712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27E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895175" y="1028670"/>
            <a:ext cx="713864" cy="8229630"/>
            <a:chOff x="0" y="0"/>
            <a:chExt cx="951819" cy="1097284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951819" cy="10972840"/>
              <a:chOff x="0" y="0"/>
              <a:chExt cx="188014" cy="216747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88014" cy="2167474"/>
              </a:xfrm>
              <a:custGeom>
                <a:avLst/>
                <a:gdLst/>
                <a:ahLst/>
                <a:cxnLst/>
                <a:rect r="r" b="b" t="t" l="l"/>
                <a:pathLst>
                  <a:path h="2167474" w="188014">
                    <a:moveTo>
                      <a:pt x="94007" y="0"/>
                    </a:moveTo>
                    <a:lnTo>
                      <a:pt x="94007" y="0"/>
                    </a:lnTo>
                    <a:cubicBezTo>
                      <a:pt x="118939" y="0"/>
                      <a:pt x="142850" y="9904"/>
                      <a:pt x="160480" y="27534"/>
                    </a:cubicBezTo>
                    <a:cubicBezTo>
                      <a:pt x="178109" y="45164"/>
                      <a:pt x="188014" y="69075"/>
                      <a:pt x="188014" y="94007"/>
                    </a:cubicBezTo>
                    <a:lnTo>
                      <a:pt x="188014" y="2073468"/>
                    </a:lnTo>
                    <a:cubicBezTo>
                      <a:pt x="188014" y="2125386"/>
                      <a:pt x="145925" y="2167474"/>
                      <a:pt x="94007" y="2167474"/>
                    </a:cubicBezTo>
                    <a:lnTo>
                      <a:pt x="94007" y="2167474"/>
                    </a:lnTo>
                    <a:cubicBezTo>
                      <a:pt x="42088" y="2167474"/>
                      <a:pt x="0" y="2125386"/>
                      <a:pt x="0" y="2073468"/>
                    </a:cubicBezTo>
                    <a:lnTo>
                      <a:pt x="0" y="94007"/>
                    </a:lnTo>
                    <a:cubicBezTo>
                      <a:pt x="0" y="42088"/>
                      <a:pt x="42088" y="0"/>
                      <a:pt x="94007" y="0"/>
                    </a:cubicBezTo>
                    <a:close/>
                  </a:path>
                </a:pathLst>
              </a:custGeom>
              <a:solidFill>
                <a:srgbClr val="A27E62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85725"/>
                <a:ext cx="188014" cy="2253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AutoShape 6" id="6"/>
            <p:cNvSpPr/>
            <p:nvPr/>
          </p:nvSpPr>
          <p:spPr>
            <a:xfrm>
              <a:off x="501310" y="1576551"/>
              <a:ext cx="0" cy="2813181"/>
            </a:xfrm>
            <a:prstGeom prst="line">
              <a:avLst/>
            </a:prstGeom>
            <a:ln cap="flat" w="50800">
              <a:solidFill>
                <a:srgbClr val="E6B372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7" id="7"/>
            <p:cNvGrpSpPr/>
            <p:nvPr/>
          </p:nvGrpSpPr>
          <p:grpSpPr>
            <a:xfrm rot="0">
              <a:off x="148801" y="506399"/>
              <a:ext cx="654218" cy="654218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6B372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299118" y="630086"/>
              <a:ext cx="353584" cy="406844"/>
            </a:xfrm>
            <a:custGeom>
              <a:avLst/>
              <a:gdLst/>
              <a:ahLst/>
              <a:cxnLst/>
              <a:rect r="r" b="b" t="t" l="l"/>
              <a:pathLst>
                <a:path h="406844" w="353584">
                  <a:moveTo>
                    <a:pt x="0" y="0"/>
                  </a:moveTo>
                  <a:lnTo>
                    <a:pt x="353584" y="0"/>
                  </a:lnTo>
                  <a:lnTo>
                    <a:pt x="353584" y="406844"/>
                  </a:lnTo>
                  <a:lnTo>
                    <a:pt x="0" y="4068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-5400000">
              <a:off x="-2508550" y="7294420"/>
              <a:ext cx="5902325" cy="468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i="true" spc="406">
                  <a:solidFill>
                    <a:srgbClr val="00000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La Page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913030" y="1781853"/>
            <a:ext cx="470084" cy="470084"/>
          </a:xfrm>
          <a:custGeom>
            <a:avLst/>
            <a:gdLst/>
            <a:ahLst/>
            <a:cxnLst/>
            <a:rect r="r" b="b" t="t" l="l"/>
            <a:pathLst>
              <a:path h="470084" w="470084">
                <a:moveTo>
                  <a:pt x="0" y="0"/>
                </a:moveTo>
                <a:lnTo>
                  <a:pt x="470084" y="0"/>
                </a:lnTo>
                <a:lnTo>
                  <a:pt x="470084" y="470084"/>
                </a:lnTo>
                <a:lnTo>
                  <a:pt x="0" y="4700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1736384" y="1571326"/>
            <a:ext cx="11228089" cy="291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Méthod</a:t>
            </a:r>
            <a:r>
              <a:rPr lang="en-US" sz="6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ologie</a:t>
            </a:r>
          </a:p>
          <a:p>
            <a:pPr algn="l">
              <a:lnSpc>
                <a:spcPts val="7480"/>
              </a:lnSpc>
            </a:pPr>
          </a:p>
          <a:p>
            <a:pPr algn="l">
              <a:lnSpc>
                <a:spcPts val="7480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5263471" y="3252826"/>
            <a:ext cx="11233470" cy="6836732"/>
            <a:chOff x="0" y="0"/>
            <a:chExt cx="14977960" cy="9115643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1318493" y="0"/>
              <a:ext cx="13659467" cy="7862090"/>
              <a:chOff x="0" y="0"/>
              <a:chExt cx="2698166" cy="155300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698166" cy="1553005"/>
              </a:xfrm>
              <a:custGeom>
                <a:avLst/>
                <a:gdLst/>
                <a:ahLst/>
                <a:cxnLst/>
                <a:rect r="r" b="b" t="t" l="l"/>
                <a:pathLst>
                  <a:path h="1553005" w="2698166">
                    <a:moveTo>
                      <a:pt x="34007" y="0"/>
                    </a:moveTo>
                    <a:lnTo>
                      <a:pt x="2664159" y="0"/>
                    </a:lnTo>
                    <a:cubicBezTo>
                      <a:pt x="2673179" y="0"/>
                      <a:pt x="2681828" y="3583"/>
                      <a:pt x="2688206" y="9960"/>
                    </a:cubicBezTo>
                    <a:cubicBezTo>
                      <a:pt x="2694583" y="16338"/>
                      <a:pt x="2698166" y="24988"/>
                      <a:pt x="2698166" y="34007"/>
                    </a:cubicBezTo>
                    <a:lnTo>
                      <a:pt x="2698166" y="1518999"/>
                    </a:lnTo>
                    <a:cubicBezTo>
                      <a:pt x="2698166" y="1537780"/>
                      <a:pt x="2682941" y="1553005"/>
                      <a:pt x="2664159" y="1553005"/>
                    </a:cubicBezTo>
                    <a:lnTo>
                      <a:pt x="34007" y="1553005"/>
                    </a:lnTo>
                    <a:cubicBezTo>
                      <a:pt x="24988" y="1553005"/>
                      <a:pt x="16338" y="1549423"/>
                      <a:pt x="9960" y="1543045"/>
                    </a:cubicBezTo>
                    <a:cubicBezTo>
                      <a:pt x="3583" y="1536668"/>
                      <a:pt x="0" y="1528018"/>
                      <a:pt x="0" y="1518999"/>
                    </a:cubicBezTo>
                    <a:lnTo>
                      <a:pt x="0" y="34007"/>
                    </a:lnTo>
                    <a:cubicBezTo>
                      <a:pt x="0" y="24988"/>
                      <a:pt x="3583" y="16338"/>
                      <a:pt x="9960" y="9960"/>
                    </a:cubicBezTo>
                    <a:cubicBezTo>
                      <a:pt x="16338" y="3583"/>
                      <a:pt x="24988" y="0"/>
                      <a:pt x="34007" y="0"/>
                    </a:cubicBezTo>
                    <a:close/>
                  </a:path>
                </a:pathLst>
              </a:custGeom>
              <a:solidFill>
                <a:srgbClr val="E6B372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85725"/>
                <a:ext cx="2698166" cy="16387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18" id="18"/>
            <p:cNvSpPr/>
            <p:nvPr/>
          </p:nvSpPr>
          <p:spPr>
            <a:xfrm flipH="false" flipV="false" rot="6293996">
              <a:off x="591422" y="4384545"/>
              <a:ext cx="1206550" cy="2151494"/>
            </a:xfrm>
            <a:custGeom>
              <a:avLst/>
              <a:gdLst/>
              <a:ahLst/>
              <a:cxnLst/>
              <a:rect r="r" b="b" t="t" l="l"/>
              <a:pathLst>
                <a:path h="2151494" w="1206550">
                  <a:moveTo>
                    <a:pt x="0" y="0"/>
                  </a:moveTo>
                  <a:lnTo>
                    <a:pt x="1206551" y="0"/>
                  </a:lnTo>
                  <a:lnTo>
                    <a:pt x="1206551" y="2151493"/>
                  </a:lnTo>
                  <a:lnTo>
                    <a:pt x="0" y="2151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2425509" y="417039"/>
              <a:ext cx="12144681" cy="86986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12"/>
                </a:lnSpc>
              </a:pPr>
              <a:r>
                <a:rPr lang="en-US" sz="265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L’analyse a suivi plusieurs étapes afin de transformer les données brutes en résultats exploitables : préparation des données, visualisation, application de tests statistiques et interprétation des résultats métier.</a:t>
              </a:r>
            </a:p>
            <a:p>
              <a:pPr algn="l">
                <a:lnSpc>
                  <a:spcPts val="3712"/>
                </a:lnSpc>
              </a:pPr>
            </a:p>
            <a:p>
              <a:pPr algn="l">
                <a:lnSpc>
                  <a:spcPts val="3712"/>
                </a:lnSpc>
              </a:pPr>
              <a:r>
                <a:rPr lang="en-US" sz="2651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Outils utilisés</a:t>
              </a:r>
            </a:p>
            <a:p>
              <a:pPr algn="l" marL="572450" indent="-286225" lvl="1">
                <a:lnSpc>
                  <a:spcPts val="3712"/>
                </a:lnSpc>
                <a:buFont typeface="Arial"/>
                <a:buChar char="•"/>
              </a:pPr>
              <a:r>
                <a:rPr lang="en-US" sz="265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Langage : Python</a:t>
              </a:r>
            </a:p>
            <a:p>
              <a:pPr algn="l" marL="572450" indent="-286225" lvl="1">
                <a:lnSpc>
                  <a:spcPts val="3712"/>
                </a:lnSpc>
                <a:buFont typeface="Arial"/>
                <a:buChar char="•"/>
              </a:pPr>
              <a:r>
                <a:rPr lang="en-US" sz="265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Environnement : Google Colab</a:t>
              </a:r>
            </a:p>
            <a:p>
              <a:pPr algn="l" marL="572450" indent="-286225" lvl="1">
                <a:lnSpc>
                  <a:spcPts val="3712"/>
                </a:lnSpc>
                <a:buFont typeface="Arial"/>
                <a:buChar char="•"/>
              </a:pPr>
              <a:r>
                <a:rPr lang="en-US" sz="265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Bibliothèques : Pandas, NumPy, Matplotlib et Seaborn</a:t>
              </a:r>
            </a:p>
            <a:p>
              <a:pPr algn="l">
                <a:lnSpc>
                  <a:spcPts val="3712"/>
                </a:lnSpc>
              </a:pPr>
            </a:p>
            <a:p>
              <a:pPr algn="l">
                <a:lnSpc>
                  <a:spcPts val="3712"/>
                </a:lnSpc>
              </a:pPr>
            </a:p>
            <a:p>
              <a:pPr algn="l">
                <a:lnSpc>
                  <a:spcPts val="3712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48072" y="4284941"/>
            <a:ext cx="5460586" cy="3263146"/>
            <a:chOff x="0" y="0"/>
            <a:chExt cx="7280782" cy="435086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41712" cy="1941712"/>
            </a:xfrm>
            <a:custGeom>
              <a:avLst/>
              <a:gdLst/>
              <a:ahLst/>
              <a:cxnLst/>
              <a:rect r="r" b="b" t="t" l="l"/>
              <a:pathLst>
                <a:path h="1941712" w="1941712">
                  <a:moveTo>
                    <a:pt x="0" y="0"/>
                  </a:moveTo>
                  <a:lnTo>
                    <a:pt x="1941712" y="0"/>
                  </a:lnTo>
                  <a:lnTo>
                    <a:pt x="1941712" y="1941712"/>
                  </a:lnTo>
                  <a:lnTo>
                    <a:pt x="0" y="19417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901920" y="194091"/>
              <a:ext cx="2336099" cy="1311516"/>
            </a:xfrm>
            <a:custGeom>
              <a:avLst/>
              <a:gdLst/>
              <a:ahLst/>
              <a:cxnLst/>
              <a:rect r="r" b="b" t="t" l="l"/>
              <a:pathLst>
                <a:path h="1311516" w="2336099">
                  <a:moveTo>
                    <a:pt x="0" y="0"/>
                  </a:moveTo>
                  <a:lnTo>
                    <a:pt x="2336099" y="0"/>
                  </a:lnTo>
                  <a:lnTo>
                    <a:pt x="2336099" y="1311516"/>
                  </a:lnTo>
                  <a:lnTo>
                    <a:pt x="0" y="13115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539640" y="2532700"/>
              <a:ext cx="1518081" cy="1518081"/>
            </a:xfrm>
            <a:custGeom>
              <a:avLst/>
              <a:gdLst/>
              <a:ahLst/>
              <a:cxnLst/>
              <a:rect r="r" b="b" t="t" l="l"/>
              <a:pathLst>
                <a:path h="1518081" w="1518081">
                  <a:moveTo>
                    <a:pt x="0" y="0"/>
                  </a:moveTo>
                  <a:lnTo>
                    <a:pt x="1518080" y="0"/>
                  </a:lnTo>
                  <a:lnTo>
                    <a:pt x="1518080" y="1518081"/>
                  </a:lnTo>
                  <a:lnTo>
                    <a:pt x="0" y="15180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3236195" y="2532700"/>
              <a:ext cx="2001824" cy="1731321"/>
            </a:xfrm>
            <a:custGeom>
              <a:avLst/>
              <a:gdLst/>
              <a:ahLst/>
              <a:cxnLst/>
              <a:rect r="r" b="b" t="t" l="l"/>
              <a:pathLst>
                <a:path h="1731321" w="2001824">
                  <a:moveTo>
                    <a:pt x="0" y="0"/>
                  </a:moveTo>
                  <a:lnTo>
                    <a:pt x="2001824" y="0"/>
                  </a:lnTo>
                  <a:lnTo>
                    <a:pt x="2001824" y="1731321"/>
                  </a:lnTo>
                  <a:lnTo>
                    <a:pt x="0" y="1731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52320" t="0" r="-39470" b="-4774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4069969" y="4051006"/>
              <a:ext cx="3210812" cy="2998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16"/>
                </a:lnSpc>
              </a:pPr>
              <a:r>
                <a:rPr lang="en-US" b="true" sz="1013" spc="-15">
                  <a:solidFill>
                    <a:srgbClr val="2E2E2E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Matplotlib</a:t>
              </a:r>
            </a:p>
            <a:p>
              <a:pPr algn="l">
                <a:lnSpc>
                  <a:spcPts val="465"/>
                </a:lnSpc>
                <a:spcBef>
                  <a:spcPct val="0"/>
                </a:spcBef>
              </a:pP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1298680" y="4022206"/>
              <a:ext cx="3210812" cy="315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00"/>
                </a:lnSpc>
              </a:pPr>
              <a:r>
                <a:rPr lang="en-US" sz="1000" b="true">
                  <a:solidFill>
                    <a:srgbClr val="2E2E2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Pandas</a:t>
              </a:r>
            </a:p>
            <a:p>
              <a:pPr algn="l">
                <a:lnSpc>
                  <a:spcPts val="465"/>
                </a:lnSpc>
                <a:spcBef>
                  <a:spcPct val="0"/>
                </a:spcBef>
              </a:pP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630788" y="1574089"/>
              <a:ext cx="3210812" cy="315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00"/>
                </a:lnSpc>
              </a:pPr>
              <a:r>
                <a:rPr lang="en-US" sz="1000" b="true">
                  <a:solidFill>
                    <a:srgbClr val="2E2E2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Python</a:t>
              </a:r>
            </a:p>
            <a:p>
              <a:pPr algn="l">
                <a:lnSpc>
                  <a:spcPts val="465"/>
                </a:lnSpc>
                <a:spcBef>
                  <a:spcPct val="0"/>
                </a:spcBef>
              </a:pP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4069969" y="1717506"/>
              <a:ext cx="3210812" cy="315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00"/>
                </a:lnSpc>
              </a:pPr>
              <a:r>
                <a:rPr lang="en-US" sz="1000" b="true">
                  <a:solidFill>
                    <a:srgbClr val="2E2E2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Google Colab </a:t>
              </a:r>
            </a:p>
            <a:p>
              <a:pPr algn="l">
                <a:lnSpc>
                  <a:spcPts val="465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383114" y="7548087"/>
            <a:ext cx="2085383" cy="1389386"/>
          </a:xfrm>
          <a:custGeom>
            <a:avLst/>
            <a:gdLst/>
            <a:ahLst/>
            <a:cxnLst/>
            <a:rect r="r" b="b" t="t" l="l"/>
            <a:pathLst>
              <a:path h="1389386" w="2085383">
                <a:moveTo>
                  <a:pt x="0" y="0"/>
                </a:moveTo>
                <a:lnTo>
                  <a:pt x="2085383" y="0"/>
                </a:lnTo>
                <a:lnTo>
                  <a:pt x="2085383" y="1389386"/>
                </a:lnTo>
                <a:lnTo>
                  <a:pt x="0" y="138938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2604648" y="6957578"/>
            <a:ext cx="3923614" cy="2614108"/>
          </a:xfrm>
          <a:custGeom>
            <a:avLst/>
            <a:gdLst/>
            <a:ahLst/>
            <a:cxnLst/>
            <a:rect r="r" b="b" t="t" l="l"/>
            <a:pathLst>
              <a:path h="2614108" w="3923614">
                <a:moveTo>
                  <a:pt x="0" y="0"/>
                </a:moveTo>
                <a:lnTo>
                  <a:pt x="3923614" y="0"/>
                </a:lnTo>
                <a:lnTo>
                  <a:pt x="3923614" y="2614108"/>
                </a:lnTo>
                <a:lnTo>
                  <a:pt x="0" y="2614108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27E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9877" y="1442887"/>
            <a:ext cx="5563217" cy="4050297"/>
            <a:chOff x="0" y="0"/>
            <a:chExt cx="7417623" cy="540039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7417623" cy="5400396"/>
              <a:chOff x="0" y="0"/>
              <a:chExt cx="1465209" cy="106674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465209" cy="1066745"/>
              </a:xfrm>
              <a:custGeom>
                <a:avLst/>
                <a:gdLst/>
                <a:ahLst/>
                <a:cxnLst/>
                <a:rect r="r" b="b" t="t" l="l"/>
                <a:pathLst>
                  <a:path h="1066745" w="1465209">
                    <a:moveTo>
                      <a:pt x="62623" y="0"/>
                    </a:moveTo>
                    <a:lnTo>
                      <a:pt x="1402586" y="0"/>
                    </a:lnTo>
                    <a:cubicBezTo>
                      <a:pt x="1437172" y="0"/>
                      <a:pt x="1465209" y="28037"/>
                      <a:pt x="1465209" y="62623"/>
                    </a:cubicBezTo>
                    <a:lnTo>
                      <a:pt x="1465209" y="1004122"/>
                    </a:lnTo>
                    <a:cubicBezTo>
                      <a:pt x="1465209" y="1038708"/>
                      <a:pt x="1437172" y="1066745"/>
                      <a:pt x="1402586" y="1066745"/>
                    </a:cubicBezTo>
                    <a:lnTo>
                      <a:pt x="62623" y="1066745"/>
                    </a:lnTo>
                    <a:cubicBezTo>
                      <a:pt x="28037" y="1066745"/>
                      <a:pt x="0" y="1038708"/>
                      <a:pt x="0" y="1004122"/>
                    </a:cubicBezTo>
                    <a:lnTo>
                      <a:pt x="0" y="62623"/>
                    </a:lnTo>
                    <a:cubicBezTo>
                      <a:pt x="0" y="28037"/>
                      <a:pt x="28037" y="0"/>
                      <a:pt x="62623" y="0"/>
                    </a:cubicBezTo>
                    <a:close/>
                  </a:path>
                </a:pathLst>
              </a:custGeom>
              <a:solidFill>
                <a:srgbClr val="E6B37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85725"/>
                <a:ext cx="1465209" cy="11524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347185" y="425323"/>
              <a:ext cx="568253" cy="568253"/>
            </a:xfrm>
            <a:custGeom>
              <a:avLst/>
              <a:gdLst/>
              <a:ahLst/>
              <a:cxnLst/>
              <a:rect r="r" b="b" t="t" l="l"/>
              <a:pathLst>
                <a:path h="568253" w="568253">
                  <a:moveTo>
                    <a:pt x="0" y="0"/>
                  </a:moveTo>
                  <a:lnTo>
                    <a:pt x="568253" y="0"/>
                  </a:lnTo>
                  <a:lnTo>
                    <a:pt x="568253" y="568253"/>
                  </a:lnTo>
                  <a:lnTo>
                    <a:pt x="0" y="5682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412328" y="239150"/>
              <a:ext cx="5597526" cy="4855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Notebook 1</a:t>
              </a:r>
            </a:p>
            <a:p>
              <a:pPr algn="l">
                <a:lnSpc>
                  <a:spcPts val="3639"/>
                </a:lnSpc>
              </a:pPr>
              <a:r>
                <a:rPr lang="en-US" sz="25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Ana</a:t>
              </a:r>
              <a:r>
                <a:rPr lang="en-US" sz="25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lyse business</a:t>
              </a:r>
            </a:p>
            <a:p>
              <a:pPr algn="l" marL="561337" indent="-280669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Calcul des </a:t>
              </a:r>
              <a:r>
                <a:rPr lang="en-US" sz="2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KPI</a:t>
              </a:r>
            </a:p>
            <a:p>
              <a:pPr algn="l" marL="561337" indent="-280669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Analys</a:t>
              </a:r>
              <a:r>
                <a:rPr lang="en-US" sz="2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 temporelle des ventes</a:t>
              </a:r>
            </a:p>
            <a:p>
              <a:pPr algn="l" marL="561337" indent="-280669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Top / Flop produits</a:t>
              </a:r>
            </a:p>
            <a:p>
              <a:pPr algn="l" marL="561337" indent="-280669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Analyse clients et v</a:t>
              </a:r>
              <a:r>
                <a:rPr lang="en-US" sz="2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isua</a:t>
              </a:r>
              <a:r>
                <a:rPr lang="en-US" sz="2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lisations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705450" y="1940079"/>
            <a:ext cx="3998502" cy="4500729"/>
          </a:xfrm>
          <a:custGeom>
            <a:avLst/>
            <a:gdLst/>
            <a:ahLst/>
            <a:cxnLst/>
            <a:rect r="r" b="b" t="t" l="l"/>
            <a:pathLst>
              <a:path h="4500729" w="3998502">
                <a:moveTo>
                  <a:pt x="0" y="0"/>
                </a:moveTo>
                <a:lnTo>
                  <a:pt x="3998502" y="0"/>
                </a:lnTo>
                <a:lnTo>
                  <a:pt x="3998502" y="4500729"/>
                </a:lnTo>
                <a:lnTo>
                  <a:pt x="0" y="45007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0">
            <a:off x="719877" y="5661029"/>
            <a:ext cx="5479810" cy="4050297"/>
            <a:chOff x="0" y="0"/>
            <a:chExt cx="7306413" cy="5400396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7306413" cy="5400396"/>
              <a:chOff x="0" y="0"/>
              <a:chExt cx="1443242" cy="106674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443242" cy="1066745"/>
              </a:xfrm>
              <a:custGeom>
                <a:avLst/>
                <a:gdLst/>
                <a:ahLst/>
                <a:cxnLst/>
                <a:rect r="r" b="b" t="t" l="l"/>
                <a:pathLst>
                  <a:path h="1066745" w="1443242">
                    <a:moveTo>
                      <a:pt x="63576" y="0"/>
                    </a:moveTo>
                    <a:lnTo>
                      <a:pt x="1379666" y="0"/>
                    </a:lnTo>
                    <a:cubicBezTo>
                      <a:pt x="1414778" y="0"/>
                      <a:pt x="1443242" y="28464"/>
                      <a:pt x="1443242" y="63576"/>
                    </a:cubicBezTo>
                    <a:lnTo>
                      <a:pt x="1443242" y="1003169"/>
                    </a:lnTo>
                    <a:cubicBezTo>
                      <a:pt x="1443242" y="1038281"/>
                      <a:pt x="1414778" y="1066745"/>
                      <a:pt x="1379666" y="1066745"/>
                    </a:cubicBezTo>
                    <a:lnTo>
                      <a:pt x="63576" y="1066745"/>
                    </a:lnTo>
                    <a:cubicBezTo>
                      <a:pt x="46715" y="1066745"/>
                      <a:pt x="30544" y="1060047"/>
                      <a:pt x="18621" y="1048124"/>
                    </a:cubicBezTo>
                    <a:cubicBezTo>
                      <a:pt x="6698" y="1036201"/>
                      <a:pt x="0" y="1020030"/>
                      <a:pt x="0" y="1003169"/>
                    </a:cubicBezTo>
                    <a:lnTo>
                      <a:pt x="0" y="63576"/>
                    </a:lnTo>
                    <a:cubicBezTo>
                      <a:pt x="0" y="28464"/>
                      <a:pt x="28464" y="0"/>
                      <a:pt x="63576" y="0"/>
                    </a:cubicBezTo>
                    <a:close/>
                  </a:path>
                </a:pathLst>
              </a:custGeom>
              <a:solidFill>
                <a:srgbClr val="E6B372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85725"/>
                <a:ext cx="1443242" cy="11524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347185" y="425323"/>
              <a:ext cx="568253" cy="568253"/>
            </a:xfrm>
            <a:custGeom>
              <a:avLst/>
              <a:gdLst/>
              <a:ahLst/>
              <a:cxnLst/>
              <a:rect r="r" b="b" t="t" l="l"/>
              <a:pathLst>
                <a:path h="568253" w="568253">
                  <a:moveTo>
                    <a:pt x="0" y="0"/>
                  </a:moveTo>
                  <a:lnTo>
                    <a:pt x="568253" y="0"/>
                  </a:lnTo>
                  <a:lnTo>
                    <a:pt x="568253" y="568253"/>
                  </a:lnTo>
                  <a:lnTo>
                    <a:pt x="0" y="5682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1449398" y="239150"/>
              <a:ext cx="5597526" cy="4855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Notebook 2</a:t>
              </a:r>
            </a:p>
            <a:p>
              <a:pPr algn="l">
                <a:lnSpc>
                  <a:spcPts val="3639"/>
                </a:lnSpc>
              </a:pPr>
              <a:r>
                <a:rPr lang="en-US" sz="25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Ana</a:t>
              </a:r>
              <a:r>
                <a:rPr lang="en-US" sz="25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lyses statistiques</a:t>
              </a:r>
            </a:p>
            <a:p>
              <a:pPr algn="l" marL="561337" indent="-280669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</a:t>
              </a:r>
              <a:r>
                <a:rPr lang="en-US" sz="2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est du Khi²</a:t>
              </a:r>
            </a:p>
            <a:p>
              <a:pPr algn="l" marL="561337" indent="-280669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Corré</a:t>
              </a:r>
              <a:r>
                <a:rPr lang="en-US" sz="2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lation de Pearson</a:t>
              </a:r>
            </a:p>
            <a:p>
              <a:pPr algn="l" marL="561337" indent="-280669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ANOVA</a:t>
              </a:r>
            </a:p>
            <a:p>
              <a:pPr algn="l" marL="561337" indent="-280669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Interprétation des résultats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7385100" y="2143472"/>
            <a:ext cx="3207455" cy="5847588"/>
          </a:xfrm>
          <a:custGeom>
            <a:avLst/>
            <a:gdLst/>
            <a:ahLst/>
            <a:cxnLst/>
            <a:rect r="r" b="b" t="t" l="l"/>
            <a:pathLst>
              <a:path h="5847588" w="3207455">
                <a:moveTo>
                  <a:pt x="0" y="0"/>
                </a:moveTo>
                <a:lnTo>
                  <a:pt x="3207455" y="0"/>
                </a:lnTo>
                <a:lnTo>
                  <a:pt x="3207455" y="5847588"/>
                </a:lnTo>
                <a:lnTo>
                  <a:pt x="0" y="58475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6888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0272372" y="4140420"/>
            <a:ext cx="3182856" cy="4194075"/>
          </a:xfrm>
          <a:custGeom>
            <a:avLst/>
            <a:gdLst/>
            <a:ahLst/>
            <a:cxnLst/>
            <a:rect r="r" b="b" t="t" l="l"/>
            <a:pathLst>
              <a:path h="4194075" w="3182856">
                <a:moveTo>
                  <a:pt x="0" y="0"/>
                </a:moveTo>
                <a:lnTo>
                  <a:pt x="3182856" y="0"/>
                </a:lnTo>
                <a:lnTo>
                  <a:pt x="3182856" y="4194076"/>
                </a:lnTo>
                <a:lnTo>
                  <a:pt x="0" y="41940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7" id="17"/>
          <p:cNvSpPr txBox="true"/>
          <p:nvPr/>
        </p:nvSpPr>
        <p:spPr>
          <a:xfrm rot="0">
            <a:off x="8893778" y="716683"/>
            <a:ext cx="6810923" cy="1972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Mé</a:t>
            </a:r>
            <a:r>
              <a:rPr lang="en-US" sz="6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thodologie</a:t>
            </a:r>
          </a:p>
          <a:p>
            <a:pPr algn="l">
              <a:lnSpc>
                <a:spcPts val="748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3705450" y="6541251"/>
            <a:ext cx="4426744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i="true" spc="406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Notebook 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059000" y="8117008"/>
            <a:ext cx="4426744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i="true" spc="406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Notebook 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474491" y="8618658"/>
            <a:ext cx="10229460" cy="1009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b="true" sz="19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L’analyse a été réalisée en deux étapes : une première orientée métier pour comprendre les ventes, puis une seconde dédiée aux tests statistiques afin d’étudier les relations entre différentes variables.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17" t="0" r="-331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90848" y="2618135"/>
            <a:ext cx="1163785" cy="1293095"/>
          </a:xfrm>
          <a:custGeom>
            <a:avLst/>
            <a:gdLst/>
            <a:ahLst/>
            <a:cxnLst/>
            <a:rect r="r" b="b" t="t" l="l"/>
            <a:pathLst>
              <a:path h="1293095" w="1163785">
                <a:moveTo>
                  <a:pt x="0" y="0"/>
                </a:moveTo>
                <a:lnTo>
                  <a:pt x="1163786" y="0"/>
                </a:lnTo>
                <a:lnTo>
                  <a:pt x="1163786" y="1293095"/>
                </a:lnTo>
                <a:lnTo>
                  <a:pt x="0" y="12930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133023" y="2661920"/>
            <a:ext cx="1577115" cy="1419404"/>
          </a:xfrm>
          <a:custGeom>
            <a:avLst/>
            <a:gdLst/>
            <a:ahLst/>
            <a:cxnLst/>
            <a:rect r="r" b="b" t="t" l="l"/>
            <a:pathLst>
              <a:path h="1419404" w="1577115">
                <a:moveTo>
                  <a:pt x="0" y="0"/>
                </a:moveTo>
                <a:lnTo>
                  <a:pt x="1577115" y="0"/>
                </a:lnTo>
                <a:lnTo>
                  <a:pt x="1577115" y="1419403"/>
                </a:lnTo>
                <a:lnTo>
                  <a:pt x="0" y="14194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092134" y="2831951"/>
            <a:ext cx="1465854" cy="1463189"/>
          </a:xfrm>
          <a:custGeom>
            <a:avLst/>
            <a:gdLst/>
            <a:ahLst/>
            <a:cxnLst/>
            <a:rect r="r" b="b" t="t" l="l"/>
            <a:pathLst>
              <a:path h="1463189" w="1465854">
                <a:moveTo>
                  <a:pt x="0" y="0"/>
                </a:moveTo>
                <a:lnTo>
                  <a:pt x="1465854" y="0"/>
                </a:lnTo>
                <a:lnTo>
                  <a:pt x="1465854" y="1463188"/>
                </a:lnTo>
                <a:lnTo>
                  <a:pt x="0" y="14631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46028" y="6141384"/>
            <a:ext cx="1580574" cy="899490"/>
          </a:xfrm>
          <a:custGeom>
            <a:avLst/>
            <a:gdLst/>
            <a:ahLst/>
            <a:cxnLst/>
            <a:rect r="r" b="b" t="t" l="l"/>
            <a:pathLst>
              <a:path h="899490" w="1580574">
                <a:moveTo>
                  <a:pt x="0" y="0"/>
                </a:moveTo>
                <a:lnTo>
                  <a:pt x="1580574" y="0"/>
                </a:lnTo>
                <a:lnTo>
                  <a:pt x="1580574" y="899490"/>
                </a:lnTo>
                <a:lnTo>
                  <a:pt x="0" y="89949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550675" y="5258435"/>
            <a:ext cx="3345995" cy="2229269"/>
          </a:xfrm>
          <a:custGeom>
            <a:avLst/>
            <a:gdLst/>
            <a:ahLst/>
            <a:cxnLst/>
            <a:rect r="r" b="b" t="t" l="l"/>
            <a:pathLst>
              <a:path h="2229269" w="3345995">
                <a:moveTo>
                  <a:pt x="0" y="0"/>
                </a:moveTo>
                <a:lnTo>
                  <a:pt x="3345995" y="0"/>
                </a:lnTo>
                <a:lnTo>
                  <a:pt x="3345995" y="2229269"/>
                </a:lnTo>
                <a:lnTo>
                  <a:pt x="0" y="22292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342753" y="5420590"/>
            <a:ext cx="2859227" cy="1904960"/>
          </a:xfrm>
          <a:custGeom>
            <a:avLst/>
            <a:gdLst/>
            <a:ahLst/>
            <a:cxnLst/>
            <a:rect r="r" b="b" t="t" l="l"/>
            <a:pathLst>
              <a:path h="1904960" w="2859227">
                <a:moveTo>
                  <a:pt x="0" y="0"/>
                </a:moveTo>
                <a:lnTo>
                  <a:pt x="2859226" y="0"/>
                </a:lnTo>
                <a:lnTo>
                  <a:pt x="2859226" y="1904960"/>
                </a:lnTo>
                <a:lnTo>
                  <a:pt x="0" y="190496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717420" y="893920"/>
            <a:ext cx="13466231" cy="94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83"/>
              </a:lnSpc>
            </a:pPr>
            <a:r>
              <a:rPr lang="en-US" b="true" sz="63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</a:t>
            </a:r>
            <a:r>
              <a:rPr lang="en-US" b="true" sz="63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ndicateurs clés (KPI)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29090" y="8826463"/>
            <a:ext cx="12429819" cy="78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 indicateurs offrent une première vision globale de l’activité avant d’approfondir les analyses détaillées des ventes et des comportements clients.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05523" y="4228464"/>
            <a:ext cx="3734435" cy="1029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Chiffre d’affaires total</a:t>
            </a:r>
          </a:p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12 M€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87683" y="4228464"/>
            <a:ext cx="4112736" cy="1029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Nombre de commandes</a:t>
            </a:r>
          </a:p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345,5 k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717420" y="7072592"/>
            <a:ext cx="2637790" cy="1029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Cli</a:t>
            </a:r>
            <a:r>
              <a:rPr lang="en-US" b="true" sz="2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ents uniques</a:t>
            </a:r>
          </a:p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8 600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48143" y="4228464"/>
            <a:ext cx="2753836" cy="1029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</a:t>
            </a:r>
            <a:r>
              <a:rPr lang="en-US" b="true" sz="2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roduits vendus</a:t>
            </a:r>
          </a:p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687,5 k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964170" y="7072592"/>
            <a:ext cx="2359660" cy="1029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Pani</a:t>
            </a:r>
            <a:r>
              <a:rPr lang="en-US" b="true" sz="2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er moyen</a:t>
            </a:r>
          </a:p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34,81 €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11886" y="7072592"/>
            <a:ext cx="3826351" cy="1029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Âg</a:t>
            </a:r>
            <a:r>
              <a:rPr lang="en-US" b="true" sz="2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 moyen des clients</a:t>
            </a:r>
          </a:p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43,4 ans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17" t="0" r="-331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0823" y="2582565"/>
            <a:ext cx="8429021" cy="4629532"/>
          </a:xfrm>
          <a:custGeom>
            <a:avLst/>
            <a:gdLst/>
            <a:ahLst/>
            <a:cxnLst/>
            <a:rect r="r" b="b" t="t" l="l"/>
            <a:pathLst>
              <a:path h="4629532" w="8429021">
                <a:moveTo>
                  <a:pt x="0" y="0"/>
                </a:moveTo>
                <a:lnTo>
                  <a:pt x="8429021" y="0"/>
                </a:lnTo>
                <a:lnTo>
                  <a:pt x="8429021" y="4629531"/>
                </a:lnTo>
                <a:lnTo>
                  <a:pt x="0" y="46295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09203" y="2582565"/>
            <a:ext cx="8424604" cy="4629532"/>
          </a:xfrm>
          <a:custGeom>
            <a:avLst/>
            <a:gdLst/>
            <a:ahLst/>
            <a:cxnLst/>
            <a:rect r="r" b="b" t="t" l="l"/>
            <a:pathLst>
              <a:path h="4629532" w="8424604">
                <a:moveTo>
                  <a:pt x="0" y="0"/>
                </a:moveTo>
                <a:lnTo>
                  <a:pt x="8424605" y="0"/>
                </a:lnTo>
                <a:lnTo>
                  <a:pt x="8424605" y="4629531"/>
                </a:lnTo>
                <a:lnTo>
                  <a:pt x="0" y="46295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717420" y="893920"/>
            <a:ext cx="13466231" cy="94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83"/>
              </a:lnSpc>
            </a:pPr>
            <a:r>
              <a:rPr lang="en-US" b="true" sz="63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Évolution du chiffre d’affaires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6788" y="7610273"/>
            <a:ext cx="8133886" cy="117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chiffre d’affaires varie selon les périodes avec des hausses et des baisses. La tendance générale reste visible malgré ces variations.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50535" y="7610273"/>
            <a:ext cx="8430575" cy="156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 moyenne mobile sur 3 mois réduit les petites variations et permet de mieux voir la tendance générale. On observe une hausse jusqu’au début de 2022 puis une période plus stable.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17" t="0" r="-331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88182" y="2593268"/>
            <a:ext cx="8618342" cy="6437450"/>
          </a:xfrm>
          <a:custGeom>
            <a:avLst/>
            <a:gdLst/>
            <a:ahLst/>
            <a:cxnLst/>
            <a:rect r="r" b="b" t="t" l="l"/>
            <a:pathLst>
              <a:path h="6437450" w="8618342">
                <a:moveTo>
                  <a:pt x="0" y="0"/>
                </a:moveTo>
                <a:lnTo>
                  <a:pt x="8618342" y="0"/>
                </a:lnTo>
                <a:lnTo>
                  <a:pt x="8618342" y="6437451"/>
                </a:lnTo>
                <a:lnTo>
                  <a:pt x="0" y="64374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858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17420" y="893920"/>
            <a:ext cx="13466231" cy="94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83"/>
              </a:lnSpc>
            </a:pPr>
            <a:r>
              <a:rPr lang="en-US" b="true" sz="63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Chiffre d’affaires par catégorie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420886" y="4657101"/>
            <a:ext cx="6733115" cy="3358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catégorie 1 génère le chiffre d’affaires le plus élevé, suivie de la catégorie 0.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 catégorie 2 est en retrait, ce qui peut indiquer une moindre attractivité ou un volume de ventes plus faible sur cette catégorie.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17" t="0" r="-331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50535" y="2424314"/>
            <a:ext cx="8185464" cy="4774854"/>
          </a:xfrm>
          <a:custGeom>
            <a:avLst/>
            <a:gdLst/>
            <a:ahLst/>
            <a:cxnLst/>
            <a:rect r="r" b="b" t="t" l="l"/>
            <a:pathLst>
              <a:path h="4774854" w="8185464">
                <a:moveTo>
                  <a:pt x="0" y="0"/>
                </a:moveTo>
                <a:lnTo>
                  <a:pt x="8185465" y="0"/>
                </a:lnTo>
                <a:lnTo>
                  <a:pt x="8185465" y="4774854"/>
                </a:lnTo>
                <a:lnTo>
                  <a:pt x="0" y="47748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17420" y="893920"/>
            <a:ext cx="13466231" cy="899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65"/>
              </a:lnSpc>
            </a:pPr>
            <a:r>
              <a:rPr lang="en-US" b="true" sz="60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Tops et flops produits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31636" y="7694930"/>
            <a:ext cx="16227664" cy="156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 Top/Flop analys</a:t>
            </a: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ent les performances produit par produit, tandis que le CA par catégorie mesure la performance globale d’une catégorie. Cela nous permet d’identifier non seulement les produits phares à mettre en avant, mais aussi les produits les moins performant</a:t>
            </a: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 qui pourraient nécessiter des ajustements ou être remplacés</a:t>
            </a:r>
          </a:p>
          <a:p>
            <a:pPr algn="r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973708" y="2474423"/>
            <a:ext cx="8322821" cy="4724746"/>
          </a:xfrm>
          <a:custGeom>
            <a:avLst/>
            <a:gdLst/>
            <a:ahLst/>
            <a:cxnLst/>
            <a:rect r="r" b="b" t="t" l="l"/>
            <a:pathLst>
              <a:path h="4724746" w="8322821">
                <a:moveTo>
                  <a:pt x="0" y="0"/>
                </a:moveTo>
                <a:lnTo>
                  <a:pt x="8322821" y="0"/>
                </a:lnTo>
                <a:lnTo>
                  <a:pt x="8322821" y="4724745"/>
                </a:lnTo>
                <a:lnTo>
                  <a:pt x="0" y="47247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17" t="0" r="-331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406207"/>
            <a:ext cx="8421835" cy="6721520"/>
          </a:xfrm>
          <a:custGeom>
            <a:avLst/>
            <a:gdLst/>
            <a:ahLst/>
            <a:cxnLst/>
            <a:rect r="r" b="b" t="t" l="l"/>
            <a:pathLst>
              <a:path h="6721520" w="8421835">
                <a:moveTo>
                  <a:pt x="0" y="0"/>
                </a:moveTo>
                <a:lnTo>
                  <a:pt x="8421835" y="0"/>
                </a:lnTo>
                <a:lnTo>
                  <a:pt x="8421835" y="6721520"/>
                </a:lnTo>
                <a:lnTo>
                  <a:pt x="0" y="6721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37" t="0" r="0" b="-229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17420" y="893920"/>
            <a:ext cx="13466231" cy="899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65"/>
              </a:lnSpc>
            </a:pPr>
            <a:r>
              <a:rPr lang="en-US" b="true" sz="60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Analyse des clients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51287" y="2487219"/>
            <a:ext cx="7673444" cy="6810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7"/>
              </a:lnSpc>
            </a:pPr>
            <a:r>
              <a:rPr lang="en-US" sz="225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Objectif  :</a:t>
            </a:r>
          </a:p>
          <a:p>
            <a:pPr algn="l">
              <a:lnSpc>
                <a:spcPts val="3157"/>
              </a:lnSpc>
            </a:pPr>
            <a:r>
              <a:rPr lang="en-US" sz="225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Étudier si le chiffre d’affaires est réparti de manière équilibrée entre les clients ou concentré sur certains d’entre eux.</a:t>
            </a:r>
          </a:p>
          <a:p>
            <a:pPr algn="l" marL="486926" indent="-243463" lvl="1">
              <a:lnSpc>
                <a:spcPts val="3157"/>
              </a:lnSpc>
              <a:buFont typeface="Arial"/>
              <a:buChar char="•"/>
            </a:pPr>
            <a:r>
              <a:rPr lang="en-US" sz="225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 diagonale orange représente une répartition idéal égale du chiffre d’affaires entre les clients.</a:t>
            </a:r>
          </a:p>
          <a:p>
            <a:pPr algn="l" marL="486926" indent="-243463" lvl="1">
              <a:lnSpc>
                <a:spcPts val="3157"/>
              </a:lnSpc>
              <a:spcBef>
                <a:spcPct val="0"/>
              </a:spcBef>
              <a:buFont typeface="Arial"/>
              <a:buChar char="•"/>
            </a:pPr>
            <a:r>
              <a:rPr lang="en-US" sz="225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25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courbe de Lorenz montre la répartition réelle des ventes.</a:t>
            </a:r>
          </a:p>
          <a:p>
            <a:pPr algn="l">
              <a:lnSpc>
                <a:spcPts val="3157"/>
              </a:lnSpc>
              <a:spcBef>
                <a:spcPct val="0"/>
              </a:spcBef>
            </a:pPr>
            <a:r>
              <a:rPr lang="en-US" sz="225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25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xemple :</a:t>
            </a:r>
          </a:p>
          <a:p>
            <a:pPr algn="l" marL="486926" indent="-243463" lvl="1">
              <a:lnSpc>
                <a:spcPts val="3157"/>
              </a:lnSpc>
              <a:spcBef>
                <a:spcPct val="0"/>
              </a:spcBef>
              <a:buFont typeface="Arial"/>
              <a:buChar char="•"/>
            </a:pPr>
            <a:r>
              <a:rPr lang="en-US" sz="225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50 % des clients génèrent seulement ≈ 20 % du chiffre d’affaires</a:t>
            </a:r>
          </a:p>
          <a:p>
            <a:pPr algn="l" marL="486926" indent="-243463" lvl="1">
              <a:lnSpc>
                <a:spcPts val="3157"/>
              </a:lnSpc>
              <a:spcBef>
                <a:spcPct val="0"/>
              </a:spcBef>
              <a:buFont typeface="Arial"/>
              <a:buChar char="•"/>
            </a:pPr>
            <a:r>
              <a:rPr lang="en-US" sz="225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25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 plus petite partie des clients contribue davantage aux ventes</a:t>
            </a:r>
          </a:p>
          <a:p>
            <a:pPr algn="l">
              <a:lnSpc>
                <a:spcPts val="3157"/>
              </a:lnSpc>
              <a:spcBef>
                <a:spcPct val="0"/>
              </a:spcBef>
            </a:pPr>
          </a:p>
          <a:p>
            <a:pPr algn="l">
              <a:lnSpc>
                <a:spcPts val="3157"/>
              </a:lnSpc>
              <a:spcBef>
                <a:spcPct val="0"/>
              </a:spcBef>
            </a:pPr>
            <a:r>
              <a:rPr lang="en-US" b="true" sz="225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 :</a:t>
            </a:r>
          </a:p>
          <a:p>
            <a:pPr algn="l" marL="486926" indent="-243463" lvl="1">
              <a:lnSpc>
                <a:spcPts val="3157"/>
              </a:lnSpc>
              <a:spcBef>
                <a:spcPct val="0"/>
              </a:spcBef>
              <a:buFont typeface="Arial"/>
              <a:buChar char="•"/>
            </a:pPr>
            <a:r>
              <a:rPr lang="en-US" sz="225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Les ventes sont concentrées sur certains clients, mais cette concentration reste modérée.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17" t="0" r="-331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860906"/>
            <a:ext cx="9232037" cy="5162461"/>
          </a:xfrm>
          <a:custGeom>
            <a:avLst/>
            <a:gdLst/>
            <a:ahLst/>
            <a:cxnLst/>
            <a:rect r="r" b="b" t="t" l="l"/>
            <a:pathLst>
              <a:path h="5162461" w="9232037">
                <a:moveTo>
                  <a:pt x="0" y="0"/>
                </a:moveTo>
                <a:lnTo>
                  <a:pt x="9232037" y="0"/>
                </a:lnTo>
                <a:lnTo>
                  <a:pt x="9232037" y="5162461"/>
                </a:lnTo>
                <a:lnTo>
                  <a:pt x="0" y="516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30" t="0" r="-6078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897855" y="1860906"/>
            <a:ext cx="6031361" cy="5184586"/>
          </a:xfrm>
          <a:custGeom>
            <a:avLst/>
            <a:gdLst/>
            <a:ahLst/>
            <a:cxnLst/>
            <a:rect r="r" b="b" t="t" l="l"/>
            <a:pathLst>
              <a:path h="5184586" w="6031361">
                <a:moveTo>
                  <a:pt x="0" y="0"/>
                </a:moveTo>
                <a:lnTo>
                  <a:pt x="6031361" y="0"/>
                </a:lnTo>
                <a:lnTo>
                  <a:pt x="6031361" y="5184585"/>
                </a:lnTo>
                <a:lnTo>
                  <a:pt x="0" y="51845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8235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043414" y="899897"/>
            <a:ext cx="4201172" cy="780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7"/>
              </a:lnSpc>
            </a:pPr>
            <a:r>
              <a:rPr lang="en-US" b="true" sz="52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Clients BtoB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163167"/>
            <a:ext cx="8115300" cy="160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7"/>
              </a:lnSpc>
            </a:pPr>
            <a:r>
              <a:rPr lang="en-US" b="true" sz="225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4 clients</a:t>
            </a:r>
            <a:r>
              <a:rPr lang="en-US" sz="225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présentent des comportements </a:t>
            </a:r>
            <a:r>
              <a:rPr lang="en-US" b="true" sz="225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atypiques</a:t>
            </a:r>
            <a:r>
              <a:rPr lang="en-US" sz="225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:</a:t>
            </a:r>
          </a:p>
          <a:p>
            <a:pPr algn="l" marL="486926" indent="-243463" lvl="1">
              <a:lnSpc>
                <a:spcPts val="3157"/>
              </a:lnSpc>
              <a:spcBef>
                <a:spcPct val="0"/>
              </a:spcBef>
              <a:buFont typeface="Arial"/>
              <a:buChar char="•"/>
            </a:pPr>
            <a:r>
              <a:rPr lang="en-US" sz="225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25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ontants très élevés</a:t>
            </a:r>
          </a:p>
          <a:p>
            <a:pPr algn="l" marL="486926" indent="-243463" lvl="1">
              <a:lnSpc>
                <a:spcPts val="3157"/>
              </a:lnSpc>
              <a:buFont typeface="Arial"/>
              <a:buChar char="•"/>
            </a:pPr>
            <a:r>
              <a:rPr lang="en-US" sz="225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Volumes d’achats anormalement élevés</a:t>
            </a:r>
          </a:p>
          <a:p>
            <a:pPr algn="l">
              <a:lnSpc>
                <a:spcPts val="3157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750534" y="9204491"/>
            <a:ext cx="14786933" cy="809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7"/>
              </a:lnSpc>
              <a:spcBef>
                <a:spcPct val="0"/>
              </a:spcBef>
            </a:pPr>
            <a:r>
              <a:rPr lang="en-US" b="true" sz="225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Ces clients ont été exclus uniquement des tests statistiques </a:t>
            </a:r>
            <a:r>
              <a:rPr lang="en-US" b="true" sz="225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afin d’éviter un biais dans les résultats.</a:t>
            </a:r>
          </a:p>
          <a:p>
            <a:pPr algn="l">
              <a:lnSpc>
                <a:spcPts val="3157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true" flipV="false" rot="-6513160">
            <a:off x="9535902" y="6644718"/>
            <a:ext cx="633805" cy="1991958"/>
          </a:xfrm>
          <a:custGeom>
            <a:avLst/>
            <a:gdLst/>
            <a:ahLst/>
            <a:cxnLst/>
            <a:rect r="r" b="b" t="t" l="l"/>
            <a:pathLst>
              <a:path h="1991958" w="633805">
                <a:moveTo>
                  <a:pt x="633805" y="0"/>
                </a:moveTo>
                <a:lnTo>
                  <a:pt x="0" y="0"/>
                </a:lnTo>
                <a:lnTo>
                  <a:pt x="0" y="1991958"/>
                </a:lnTo>
                <a:lnTo>
                  <a:pt x="633805" y="1991958"/>
                </a:lnTo>
                <a:lnTo>
                  <a:pt x="63380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904877" y="7226466"/>
            <a:ext cx="6354423" cy="177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Bien qu’ils représentent seulement </a:t>
            </a:r>
            <a:r>
              <a:rPr lang="en-US" b="true" sz="2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4 clients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les </a:t>
            </a:r>
            <a:r>
              <a:rPr lang="en-US" b="true" sz="2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clients BtoB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génèrent</a:t>
            </a:r>
            <a:r>
              <a:rPr lang="en-US" b="true" sz="2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7,4 % 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 chiffre d’affaires total. Leur </a:t>
            </a:r>
            <a:r>
              <a:rPr lang="en-US" b="true" sz="2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comportement d’achat atypique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justifie leur exclusion des tests statistiques afin d’éviter un biais dans les analyses.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956" t="0" r="-1679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47731" y="804092"/>
            <a:ext cx="16011569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0"/>
              </a:lnSpc>
            </a:pPr>
            <a:r>
              <a:rPr lang="en-US" sz="4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Test statistique 1 : Relation entre le sexe et les catégories achetées</a:t>
            </a:r>
          </a:p>
          <a:p>
            <a:pPr algn="ctr">
              <a:lnSpc>
                <a:spcPts val="424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071256" y="8185150"/>
            <a:ext cx="7640828" cy="142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Les répartitions observées restent proches entre les hommes et les femmes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ce qui suggère des comportements d’achat globalement similaires selon les catégories.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30114" y="4775746"/>
            <a:ext cx="7000278" cy="5013227"/>
          </a:xfrm>
          <a:custGeom>
            <a:avLst/>
            <a:gdLst/>
            <a:ahLst/>
            <a:cxnLst/>
            <a:rect r="r" b="b" t="t" l="l"/>
            <a:pathLst>
              <a:path h="5013227" w="7000278">
                <a:moveTo>
                  <a:pt x="0" y="0"/>
                </a:moveTo>
                <a:lnTo>
                  <a:pt x="7000278" y="0"/>
                </a:lnTo>
                <a:lnTo>
                  <a:pt x="7000278" y="5013227"/>
                </a:lnTo>
                <a:lnTo>
                  <a:pt x="0" y="50132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07" t="-1366" r="0" b="-1366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0114" y="2304331"/>
            <a:ext cx="9038468" cy="2245122"/>
            <a:chOff x="0" y="0"/>
            <a:chExt cx="12051290" cy="2993497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2051290" cy="2993497"/>
              <a:chOff x="0" y="0"/>
              <a:chExt cx="2380502" cy="591308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380502" cy="591308"/>
              </a:xfrm>
              <a:custGeom>
                <a:avLst/>
                <a:gdLst/>
                <a:ahLst/>
                <a:cxnLst/>
                <a:rect r="r" b="b" t="t" l="l"/>
                <a:pathLst>
                  <a:path h="591308" w="2380502">
                    <a:moveTo>
                      <a:pt x="38545" y="0"/>
                    </a:moveTo>
                    <a:lnTo>
                      <a:pt x="2341957" y="0"/>
                    </a:lnTo>
                    <a:cubicBezTo>
                      <a:pt x="2352180" y="0"/>
                      <a:pt x="2361984" y="4061"/>
                      <a:pt x="2369212" y="11290"/>
                    </a:cubicBezTo>
                    <a:cubicBezTo>
                      <a:pt x="2376441" y="18518"/>
                      <a:pt x="2380502" y="28322"/>
                      <a:pt x="2380502" y="38545"/>
                    </a:cubicBezTo>
                    <a:lnTo>
                      <a:pt x="2380502" y="552763"/>
                    </a:lnTo>
                    <a:cubicBezTo>
                      <a:pt x="2380502" y="574051"/>
                      <a:pt x="2363245" y="591308"/>
                      <a:pt x="2341957" y="591308"/>
                    </a:cubicBezTo>
                    <a:lnTo>
                      <a:pt x="38545" y="591308"/>
                    </a:lnTo>
                    <a:cubicBezTo>
                      <a:pt x="17257" y="591308"/>
                      <a:pt x="0" y="574051"/>
                      <a:pt x="0" y="552763"/>
                    </a:cubicBezTo>
                    <a:lnTo>
                      <a:pt x="0" y="38545"/>
                    </a:lnTo>
                    <a:cubicBezTo>
                      <a:pt x="0" y="17257"/>
                      <a:pt x="17257" y="0"/>
                      <a:pt x="3854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2380502" cy="6389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650035" y="175155"/>
              <a:ext cx="11401256" cy="2818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Type de test:</a:t>
              </a: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000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Khi²</a:t>
              </a:r>
            </a:p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Pourquoi ?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Sexe → variable qualitative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Catégorie produit → variable qualitative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Objectif : vérifier s’il existe une relation entre les deux variables</a:t>
              </a:r>
            </a:p>
            <a:p>
              <a:pPr algn="l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659817" y="2304331"/>
            <a:ext cx="7052267" cy="5335316"/>
          </a:xfrm>
          <a:custGeom>
            <a:avLst/>
            <a:gdLst/>
            <a:ahLst/>
            <a:cxnLst/>
            <a:rect r="r" b="b" t="t" l="l"/>
            <a:pathLst>
              <a:path h="5335316" w="7052267">
                <a:moveTo>
                  <a:pt x="0" y="0"/>
                </a:moveTo>
                <a:lnTo>
                  <a:pt x="7052266" y="0"/>
                </a:lnTo>
                <a:lnTo>
                  <a:pt x="7052266" y="5335317"/>
                </a:lnTo>
                <a:lnTo>
                  <a:pt x="0" y="53353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17" t="0" r="-3317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29976"/>
            <a:ext cx="16011569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0"/>
              </a:lnSpc>
            </a:pPr>
            <a:r>
              <a:rPr lang="en-US" sz="4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Test statistique 1 : Relation entre le sexe et les catégories achetées</a:t>
            </a:r>
          </a:p>
          <a:p>
            <a:pPr algn="ctr">
              <a:lnSpc>
                <a:spcPts val="424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454660" y="8509000"/>
            <a:ext cx="16095021" cy="142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Résultat :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La relation existe statistiquement, mais les écarts observés restent faibles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et ne justifient pas une stratégie marketing spécifique selon le sexe.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9144000" y="2579109"/>
            <a:ext cx="8115300" cy="5729341"/>
          </a:xfrm>
          <a:custGeom>
            <a:avLst/>
            <a:gdLst/>
            <a:ahLst/>
            <a:cxnLst/>
            <a:rect r="r" b="b" t="t" l="l"/>
            <a:pathLst>
              <a:path h="5729341" w="8115300">
                <a:moveTo>
                  <a:pt x="0" y="0"/>
                </a:moveTo>
                <a:lnTo>
                  <a:pt x="8115300" y="0"/>
                </a:lnTo>
                <a:lnTo>
                  <a:pt x="8115300" y="5729341"/>
                </a:lnTo>
                <a:lnTo>
                  <a:pt x="0" y="57293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23317" y="4562015"/>
            <a:ext cx="7106217" cy="354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Résultat statistique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p-value = </a:t>
            </a:r>
            <a:r>
              <a:rPr lang="en-US" b="true" sz="2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0,000012 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seuil α = 0,05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Hypothèse H₀ :  </a:t>
            </a:r>
            <a:r>
              <a:rPr lang="en-US" b="true" sz="2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Le sexe et la catégorie achetée sont indépendants.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 p-value est très inférieure au seuil de 0,05. 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Une relation statistiquement significative existe entre le sexe et la catégorie achetée.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223317" y="3313794"/>
            <a:ext cx="5260530" cy="592874"/>
          </a:xfrm>
          <a:custGeom>
            <a:avLst/>
            <a:gdLst/>
            <a:ahLst/>
            <a:cxnLst/>
            <a:rect r="r" b="b" t="t" l="l"/>
            <a:pathLst>
              <a:path h="592874" w="5260530">
                <a:moveTo>
                  <a:pt x="0" y="0"/>
                </a:moveTo>
                <a:lnTo>
                  <a:pt x="5260530" y="0"/>
                </a:lnTo>
                <a:lnTo>
                  <a:pt x="5260530" y="592874"/>
                </a:lnTo>
                <a:lnTo>
                  <a:pt x="0" y="5928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452" t="-26029" r="-8284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17" t="0" r="-331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49408" y="5143500"/>
            <a:ext cx="5795978" cy="480889"/>
          </a:xfrm>
          <a:custGeom>
            <a:avLst/>
            <a:gdLst/>
            <a:ahLst/>
            <a:cxnLst/>
            <a:rect r="r" b="b" t="t" l="l"/>
            <a:pathLst>
              <a:path h="480889" w="5795978">
                <a:moveTo>
                  <a:pt x="0" y="0"/>
                </a:moveTo>
                <a:lnTo>
                  <a:pt x="5795978" y="0"/>
                </a:lnTo>
                <a:lnTo>
                  <a:pt x="5795978" y="480889"/>
                </a:lnTo>
                <a:lnTo>
                  <a:pt x="0" y="4808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775676" y="2173756"/>
            <a:ext cx="8104240" cy="5939488"/>
          </a:xfrm>
          <a:custGeom>
            <a:avLst/>
            <a:gdLst/>
            <a:ahLst/>
            <a:cxnLst/>
            <a:rect r="r" b="b" t="t" l="l"/>
            <a:pathLst>
              <a:path h="5939488" w="8104240">
                <a:moveTo>
                  <a:pt x="0" y="0"/>
                </a:moveTo>
                <a:lnTo>
                  <a:pt x="8104241" y="0"/>
                </a:lnTo>
                <a:lnTo>
                  <a:pt x="8104241" y="5939488"/>
                </a:lnTo>
                <a:lnTo>
                  <a:pt x="0" y="5939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234" r="0" b="-123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6906257">
            <a:off x="6982701" y="4862988"/>
            <a:ext cx="608315" cy="1911848"/>
          </a:xfrm>
          <a:custGeom>
            <a:avLst/>
            <a:gdLst/>
            <a:ahLst/>
            <a:cxnLst/>
            <a:rect r="r" b="b" t="t" l="l"/>
            <a:pathLst>
              <a:path h="1911848" w="608315">
                <a:moveTo>
                  <a:pt x="0" y="0"/>
                </a:moveTo>
                <a:lnTo>
                  <a:pt x="608315" y="0"/>
                </a:lnTo>
                <a:lnTo>
                  <a:pt x="608315" y="1911848"/>
                </a:lnTo>
                <a:lnTo>
                  <a:pt x="0" y="19118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929976"/>
            <a:ext cx="16011569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0"/>
              </a:lnSpc>
            </a:pPr>
            <a:r>
              <a:rPr lang="en-US" b="true" sz="4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Test statistique 2 : Est-ce que l’âge influence combien un client dépense ?</a:t>
            </a:r>
          </a:p>
          <a:p>
            <a:pPr algn="l">
              <a:lnSpc>
                <a:spcPts val="4240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749408" y="2868717"/>
            <a:ext cx="7140347" cy="1648293"/>
            <a:chOff x="0" y="0"/>
            <a:chExt cx="9520463" cy="2197724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9148073" cy="2197724"/>
              <a:chOff x="0" y="0"/>
              <a:chExt cx="1807027" cy="43411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807027" cy="434118"/>
              </a:xfrm>
              <a:custGeom>
                <a:avLst/>
                <a:gdLst/>
                <a:ahLst/>
                <a:cxnLst/>
                <a:rect r="r" b="b" t="t" l="l"/>
                <a:pathLst>
                  <a:path h="434118" w="1807027">
                    <a:moveTo>
                      <a:pt x="50777" y="0"/>
                    </a:moveTo>
                    <a:lnTo>
                      <a:pt x="1756250" y="0"/>
                    </a:lnTo>
                    <a:cubicBezTo>
                      <a:pt x="1769717" y="0"/>
                      <a:pt x="1782632" y="5350"/>
                      <a:pt x="1792155" y="14872"/>
                    </a:cubicBezTo>
                    <a:cubicBezTo>
                      <a:pt x="1801677" y="24395"/>
                      <a:pt x="1807027" y="37310"/>
                      <a:pt x="1807027" y="50777"/>
                    </a:cubicBezTo>
                    <a:lnTo>
                      <a:pt x="1807027" y="383341"/>
                    </a:lnTo>
                    <a:cubicBezTo>
                      <a:pt x="1807027" y="396808"/>
                      <a:pt x="1801677" y="409723"/>
                      <a:pt x="1792155" y="419246"/>
                    </a:cubicBezTo>
                    <a:cubicBezTo>
                      <a:pt x="1782632" y="428769"/>
                      <a:pt x="1769717" y="434118"/>
                      <a:pt x="1756250" y="434118"/>
                    </a:cubicBezTo>
                    <a:lnTo>
                      <a:pt x="50777" y="434118"/>
                    </a:lnTo>
                    <a:cubicBezTo>
                      <a:pt x="37310" y="434118"/>
                      <a:pt x="24395" y="428769"/>
                      <a:pt x="14872" y="419246"/>
                    </a:cubicBezTo>
                    <a:cubicBezTo>
                      <a:pt x="5350" y="409723"/>
                      <a:pt x="0" y="396808"/>
                      <a:pt x="0" y="383341"/>
                    </a:cubicBezTo>
                    <a:lnTo>
                      <a:pt x="0" y="50777"/>
                    </a:lnTo>
                    <a:cubicBezTo>
                      <a:pt x="0" y="37310"/>
                      <a:pt x="5350" y="24395"/>
                      <a:pt x="14872" y="14872"/>
                    </a:cubicBezTo>
                    <a:cubicBezTo>
                      <a:pt x="24395" y="5350"/>
                      <a:pt x="37310" y="0"/>
                      <a:pt x="50777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47625"/>
                <a:ext cx="1807027" cy="4817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372390" y="319182"/>
              <a:ext cx="9148073" cy="1878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Type de test: Type de test : Corrélation de Pearson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âg</a:t>
              </a: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 → quantitatif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montant → quantitatif</a:t>
              </a:r>
            </a:p>
            <a:p>
              <a:pPr algn="l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775676" y="8367936"/>
            <a:ext cx="8900661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 nuage de points montre une légère baisse des dépenses avec l’âge, mais la relation reste faible et les données restent très dispersées.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9408" y="6433162"/>
            <a:ext cx="6843278" cy="177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 corrélation entre l’âge et le montant total des achats est faible (-0,19), ce qui indique une r</a:t>
            </a:r>
            <a:r>
              <a:rPr lang="en-US" b="true" sz="2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elation négative très limitée entre ces variables.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Les jeunes et les plus âgés dépensent à peu près pareil.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17" t="0" r="-331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23317" y="2235165"/>
            <a:ext cx="7143908" cy="2597547"/>
            <a:chOff x="0" y="0"/>
            <a:chExt cx="9525211" cy="3463397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525211" cy="3463397"/>
              <a:chOff x="0" y="0"/>
              <a:chExt cx="1881523" cy="684128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881523" cy="684128"/>
              </a:xfrm>
              <a:custGeom>
                <a:avLst/>
                <a:gdLst/>
                <a:ahLst/>
                <a:cxnLst/>
                <a:rect r="r" b="b" t="t" l="l"/>
                <a:pathLst>
                  <a:path h="684128" w="1881523">
                    <a:moveTo>
                      <a:pt x="48767" y="0"/>
                    </a:moveTo>
                    <a:lnTo>
                      <a:pt x="1832756" y="0"/>
                    </a:lnTo>
                    <a:cubicBezTo>
                      <a:pt x="1859689" y="0"/>
                      <a:pt x="1881523" y="21834"/>
                      <a:pt x="1881523" y="48767"/>
                    </a:cubicBezTo>
                    <a:lnTo>
                      <a:pt x="1881523" y="635361"/>
                    </a:lnTo>
                    <a:cubicBezTo>
                      <a:pt x="1881523" y="662294"/>
                      <a:pt x="1859689" y="684128"/>
                      <a:pt x="1832756" y="684128"/>
                    </a:cubicBezTo>
                    <a:lnTo>
                      <a:pt x="48767" y="684128"/>
                    </a:lnTo>
                    <a:cubicBezTo>
                      <a:pt x="21834" y="684128"/>
                      <a:pt x="0" y="662294"/>
                      <a:pt x="0" y="635361"/>
                    </a:cubicBezTo>
                    <a:lnTo>
                      <a:pt x="0" y="48767"/>
                    </a:lnTo>
                    <a:cubicBezTo>
                      <a:pt x="0" y="21834"/>
                      <a:pt x="21834" y="0"/>
                      <a:pt x="48767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1881523" cy="7317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513780" y="175155"/>
              <a:ext cx="9011430" cy="32882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Type de test : C</a:t>
              </a: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orrélation</a:t>
              </a: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de Pearson</a:t>
              </a:r>
            </a:p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Pourquoi ?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Â</a:t>
              </a: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ge → variable quantitative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Fréquence d’achat → variable quantitative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Objectif : mesurer l’intensité de la relation entre les deux variables</a:t>
              </a:r>
            </a:p>
            <a:p>
              <a:pPr algn="l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23317" y="5395034"/>
            <a:ext cx="5686741" cy="533966"/>
          </a:xfrm>
          <a:custGeom>
            <a:avLst/>
            <a:gdLst/>
            <a:ahLst/>
            <a:cxnLst/>
            <a:rect r="r" b="b" t="t" l="l"/>
            <a:pathLst>
              <a:path h="533966" w="5686741">
                <a:moveTo>
                  <a:pt x="0" y="0"/>
                </a:moveTo>
                <a:lnTo>
                  <a:pt x="5686741" y="0"/>
                </a:lnTo>
                <a:lnTo>
                  <a:pt x="5686741" y="533967"/>
                </a:lnTo>
                <a:lnTo>
                  <a:pt x="0" y="5339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425719" y="2058372"/>
            <a:ext cx="7845988" cy="5993463"/>
          </a:xfrm>
          <a:custGeom>
            <a:avLst/>
            <a:gdLst/>
            <a:ahLst/>
            <a:cxnLst/>
            <a:rect r="r" b="b" t="t" l="l"/>
            <a:pathLst>
              <a:path h="5993463" w="7845988">
                <a:moveTo>
                  <a:pt x="0" y="0"/>
                </a:moveTo>
                <a:lnTo>
                  <a:pt x="7845988" y="0"/>
                </a:lnTo>
                <a:lnTo>
                  <a:pt x="7845988" y="5993463"/>
                </a:lnTo>
                <a:lnTo>
                  <a:pt x="0" y="59934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929976"/>
            <a:ext cx="16817841" cy="112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0"/>
              </a:lnSpc>
            </a:pPr>
            <a:r>
              <a:rPr lang="en-US" sz="4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Test statistique 3 : Relation entre l’âge et la fréquence d’achat</a:t>
            </a:r>
          </a:p>
          <a:p>
            <a:pPr algn="ctr">
              <a:lnSpc>
                <a:spcPts val="424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425719" y="8131175"/>
            <a:ext cx="7845988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 nuage de points montre des données très dispersées avec une légère tendance à une fréquence d’achat plus élevée entre 30 et 60 ans. Cependant, la relation reste faible.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3317" y="6248435"/>
            <a:ext cx="7693001" cy="354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Résultat statistique</a:t>
            </a:r>
          </a:p>
          <a:p>
            <a:pPr algn="l">
              <a:lnSpc>
                <a:spcPts val="2800"/>
              </a:lnSpc>
            </a:pP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Coeff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ic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ient de corrélation :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0,16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Interprétation :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 coefficient obtenu est positif mais faible (0,16). Cela indique 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une 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légère 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relation e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’âg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et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la f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équenc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d’achat. L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’âge 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influ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nce peu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la fréquence d’achat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des clients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-6478517">
            <a:off x="7609030" y="5681414"/>
            <a:ext cx="608315" cy="1911848"/>
          </a:xfrm>
          <a:custGeom>
            <a:avLst/>
            <a:gdLst/>
            <a:ahLst/>
            <a:cxnLst/>
            <a:rect r="r" b="b" t="t" l="l"/>
            <a:pathLst>
              <a:path h="1911848" w="608315">
                <a:moveTo>
                  <a:pt x="0" y="0"/>
                </a:moveTo>
                <a:lnTo>
                  <a:pt x="608316" y="0"/>
                </a:lnTo>
                <a:lnTo>
                  <a:pt x="608316" y="1911847"/>
                </a:lnTo>
                <a:lnTo>
                  <a:pt x="0" y="19118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17" t="0" r="-331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23317" y="2943735"/>
            <a:ext cx="6497796" cy="2199765"/>
            <a:chOff x="0" y="0"/>
            <a:chExt cx="8663728" cy="293302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8247084" cy="2400377"/>
              <a:chOff x="0" y="0"/>
              <a:chExt cx="1629054" cy="474149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629054" cy="474149"/>
              </a:xfrm>
              <a:custGeom>
                <a:avLst/>
                <a:gdLst/>
                <a:ahLst/>
                <a:cxnLst/>
                <a:rect r="r" b="b" t="t" l="l"/>
                <a:pathLst>
                  <a:path h="474149" w="1629054">
                    <a:moveTo>
                      <a:pt x="56325" y="0"/>
                    </a:moveTo>
                    <a:lnTo>
                      <a:pt x="1572729" y="0"/>
                    </a:lnTo>
                    <a:cubicBezTo>
                      <a:pt x="1603836" y="0"/>
                      <a:pt x="1629054" y="25217"/>
                      <a:pt x="1629054" y="56325"/>
                    </a:cubicBezTo>
                    <a:lnTo>
                      <a:pt x="1629054" y="417824"/>
                    </a:lnTo>
                    <a:cubicBezTo>
                      <a:pt x="1629054" y="448931"/>
                      <a:pt x="1603836" y="474149"/>
                      <a:pt x="1572729" y="474149"/>
                    </a:cubicBezTo>
                    <a:lnTo>
                      <a:pt x="56325" y="474149"/>
                    </a:lnTo>
                    <a:cubicBezTo>
                      <a:pt x="25217" y="474149"/>
                      <a:pt x="0" y="448931"/>
                      <a:pt x="0" y="417824"/>
                    </a:cubicBezTo>
                    <a:lnTo>
                      <a:pt x="0" y="56325"/>
                    </a:lnTo>
                    <a:cubicBezTo>
                      <a:pt x="0" y="25217"/>
                      <a:pt x="25217" y="0"/>
                      <a:pt x="5632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1629054" cy="52177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861483" y="114678"/>
              <a:ext cx="7802245" cy="2818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</a:t>
              </a: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</a:t>
              </a: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lation</a:t>
              </a: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entre l’âge et le pa</a:t>
              </a: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nier moyen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â</a:t>
              </a: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ge → quantitatif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panie</a:t>
              </a: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 moyen → quantitatif</a:t>
              </a:r>
            </a:p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</a:t>
              </a: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est utilisé : Corrélation de Pearson</a:t>
              </a:r>
            </a:p>
            <a:p>
              <a:pPr algn="l">
                <a:lnSpc>
                  <a:spcPts val="2800"/>
                </a:lnSpc>
              </a:pPr>
            </a:p>
            <a:p>
              <a:pPr algn="l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23317" y="6570663"/>
            <a:ext cx="6689871" cy="2482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Résultat statistique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 coeff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ic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ient obt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enu (-0,62) indique une corrélation négative modérée entre l’âge et le panier moyen. </a:t>
            </a: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Les clients plus âgés ont tendance à avoir un panier moyen plus faible.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-6478517">
            <a:off x="7609030" y="5681414"/>
            <a:ext cx="608315" cy="1911848"/>
          </a:xfrm>
          <a:custGeom>
            <a:avLst/>
            <a:gdLst/>
            <a:ahLst/>
            <a:cxnLst/>
            <a:rect r="r" b="b" t="t" l="l"/>
            <a:pathLst>
              <a:path h="1911848" w="608315">
                <a:moveTo>
                  <a:pt x="0" y="0"/>
                </a:moveTo>
                <a:lnTo>
                  <a:pt x="608316" y="0"/>
                </a:lnTo>
                <a:lnTo>
                  <a:pt x="608316" y="1911847"/>
                </a:lnTo>
                <a:lnTo>
                  <a:pt x="0" y="19118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23317" y="5374829"/>
            <a:ext cx="5990696" cy="678192"/>
          </a:xfrm>
          <a:custGeom>
            <a:avLst/>
            <a:gdLst/>
            <a:ahLst/>
            <a:cxnLst/>
            <a:rect r="r" b="b" t="t" l="l"/>
            <a:pathLst>
              <a:path h="678192" w="5990696">
                <a:moveTo>
                  <a:pt x="0" y="0"/>
                </a:moveTo>
                <a:lnTo>
                  <a:pt x="5990696" y="0"/>
                </a:lnTo>
                <a:lnTo>
                  <a:pt x="5990696" y="678192"/>
                </a:lnTo>
                <a:lnTo>
                  <a:pt x="0" y="6781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144000" y="2538799"/>
            <a:ext cx="8468045" cy="5631523"/>
          </a:xfrm>
          <a:custGeom>
            <a:avLst/>
            <a:gdLst/>
            <a:ahLst/>
            <a:cxnLst/>
            <a:rect r="r" b="b" t="t" l="l"/>
            <a:pathLst>
              <a:path h="5631523" w="8468045">
                <a:moveTo>
                  <a:pt x="0" y="0"/>
                </a:moveTo>
                <a:lnTo>
                  <a:pt x="8468045" y="0"/>
                </a:lnTo>
                <a:lnTo>
                  <a:pt x="8468045" y="5631523"/>
                </a:lnTo>
                <a:lnTo>
                  <a:pt x="0" y="56315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348" r="0" b="-1348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929976"/>
            <a:ext cx="16817841" cy="112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0"/>
              </a:lnSpc>
            </a:pPr>
            <a:r>
              <a:rPr lang="en-US" sz="4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Test statistique 4: Est-ce que l’âge influence le montant moyen d’un panier 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8307388"/>
            <a:ext cx="8468045" cy="142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 nuage de points montre une tendance décroissante : lorsque l’âge augmente, le panier moyen tend à diminuer. Néanmoins, la dispersion des données suggère que d’autres facteurs peuvent également intervenir.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17" t="0" r="-331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24745" y="2457585"/>
            <a:ext cx="6185313" cy="2482093"/>
            <a:chOff x="0" y="0"/>
            <a:chExt cx="1629054" cy="6537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29054" cy="653720"/>
            </a:xfrm>
            <a:custGeom>
              <a:avLst/>
              <a:gdLst/>
              <a:ahLst/>
              <a:cxnLst/>
              <a:rect r="r" b="b" t="t" l="l"/>
              <a:pathLst>
                <a:path h="653720" w="1629054">
                  <a:moveTo>
                    <a:pt x="56325" y="0"/>
                  </a:moveTo>
                  <a:lnTo>
                    <a:pt x="1572729" y="0"/>
                  </a:lnTo>
                  <a:cubicBezTo>
                    <a:pt x="1603836" y="0"/>
                    <a:pt x="1629054" y="25217"/>
                    <a:pt x="1629054" y="56325"/>
                  </a:cubicBezTo>
                  <a:lnTo>
                    <a:pt x="1629054" y="597395"/>
                  </a:lnTo>
                  <a:cubicBezTo>
                    <a:pt x="1629054" y="628502"/>
                    <a:pt x="1603836" y="653720"/>
                    <a:pt x="1572729" y="653720"/>
                  </a:cubicBezTo>
                  <a:lnTo>
                    <a:pt x="56325" y="653720"/>
                  </a:lnTo>
                  <a:cubicBezTo>
                    <a:pt x="25217" y="653720"/>
                    <a:pt x="0" y="628502"/>
                    <a:pt x="0" y="597395"/>
                  </a:cubicBezTo>
                  <a:lnTo>
                    <a:pt x="0" y="56325"/>
                  </a:lnTo>
                  <a:cubicBezTo>
                    <a:pt x="0" y="25217"/>
                    <a:pt x="25217" y="0"/>
                    <a:pt x="5632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629054" cy="701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62330" y="2572282"/>
            <a:ext cx="5851684" cy="283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Type de test : ANOVA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Pourquoi ?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Â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 → variable quantitative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atégo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rie → variable qualitative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Objectif : comparer l’âge moyen entre plusieurs catégories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437620" y="2457585"/>
            <a:ext cx="8248466" cy="5693234"/>
          </a:xfrm>
          <a:custGeom>
            <a:avLst/>
            <a:gdLst/>
            <a:ahLst/>
            <a:cxnLst/>
            <a:rect r="r" b="b" t="t" l="l"/>
            <a:pathLst>
              <a:path h="5693234" w="8248466">
                <a:moveTo>
                  <a:pt x="0" y="0"/>
                </a:moveTo>
                <a:lnTo>
                  <a:pt x="8248466" y="0"/>
                </a:lnTo>
                <a:lnTo>
                  <a:pt x="8248466" y="5693234"/>
                </a:lnTo>
                <a:lnTo>
                  <a:pt x="0" y="56932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929976"/>
            <a:ext cx="16817841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0"/>
              </a:lnSpc>
            </a:pPr>
            <a:r>
              <a:rPr lang="en-US" sz="4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Test statistique 5: Est-ce que l’âge moyen change selon les catégories ?</a:t>
            </a:r>
          </a:p>
          <a:p>
            <a:pPr algn="l">
              <a:lnSpc>
                <a:spcPts val="4240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724745" y="5396291"/>
            <a:ext cx="6489268" cy="2204068"/>
            <a:chOff x="0" y="0"/>
            <a:chExt cx="1709108" cy="58049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09108" cy="580495"/>
            </a:xfrm>
            <a:custGeom>
              <a:avLst/>
              <a:gdLst/>
              <a:ahLst/>
              <a:cxnLst/>
              <a:rect r="r" b="b" t="t" l="l"/>
              <a:pathLst>
                <a:path h="580495" w="1709108">
                  <a:moveTo>
                    <a:pt x="53687" y="0"/>
                  </a:moveTo>
                  <a:lnTo>
                    <a:pt x="1655421" y="0"/>
                  </a:lnTo>
                  <a:cubicBezTo>
                    <a:pt x="1669660" y="0"/>
                    <a:pt x="1683315" y="5656"/>
                    <a:pt x="1693383" y="15724"/>
                  </a:cubicBezTo>
                  <a:cubicBezTo>
                    <a:pt x="1703451" y="25793"/>
                    <a:pt x="1709108" y="39448"/>
                    <a:pt x="1709108" y="53687"/>
                  </a:cubicBezTo>
                  <a:lnTo>
                    <a:pt x="1709108" y="526809"/>
                  </a:lnTo>
                  <a:cubicBezTo>
                    <a:pt x="1709108" y="541047"/>
                    <a:pt x="1703451" y="554703"/>
                    <a:pt x="1693383" y="564771"/>
                  </a:cubicBezTo>
                  <a:cubicBezTo>
                    <a:pt x="1683315" y="574839"/>
                    <a:pt x="1669660" y="580495"/>
                    <a:pt x="1655421" y="580495"/>
                  </a:cubicBezTo>
                  <a:lnTo>
                    <a:pt x="53687" y="580495"/>
                  </a:lnTo>
                  <a:cubicBezTo>
                    <a:pt x="39448" y="580495"/>
                    <a:pt x="25793" y="574839"/>
                    <a:pt x="15724" y="564771"/>
                  </a:cubicBezTo>
                  <a:cubicBezTo>
                    <a:pt x="5656" y="554703"/>
                    <a:pt x="0" y="541047"/>
                    <a:pt x="0" y="526809"/>
                  </a:cubicBezTo>
                  <a:lnTo>
                    <a:pt x="0" y="53687"/>
                  </a:lnTo>
                  <a:cubicBezTo>
                    <a:pt x="0" y="39448"/>
                    <a:pt x="5656" y="25793"/>
                    <a:pt x="15724" y="15724"/>
                  </a:cubicBezTo>
                  <a:cubicBezTo>
                    <a:pt x="25793" y="5656"/>
                    <a:pt x="39448" y="0"/>
                    <a:pt x="536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709108" cy="628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7005472">
            <a:off x="7836712" y="5681414"/>
            <a:ext cx="608315" cy="1911848"/>
          </a:xfrm>
          <a:custGeom>
            <a:avLst/>
            <a:gdLst/>
            <a:ahLst/>
            <a:cxnLst/>
            <a:rect r="r" b="b" t="t" l="l"/>
            <a:pathLst>
              <a:path h="1911848" w="608315">
                <a:moveTo>
                  <a:pt x="0" y="0"/>
                </a:moveTo>
                <a:lnTo>
                  <a:pt x="608316" y="0"/>
                </a:lnTo>
                <a:lnTo>
                  <a:pt x="608316" y="1911847"/>
                </a:lnTo>
                <a:lnTo>
                  <a:pt x="0" y="19118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5715000"/>
            <a:ext cx="6063297" cy="142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Résultats statistiques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p-value = &lt; 0,05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Décision : H₀ rejetée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L’âge moyen ne diffère pas entre les catégories.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6857" y="8183184"/>
            <a:ext cx="6223514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 p-value étant inférieure à 0,05, nous rejetons H₀. L’âge moyen varie significativement selon les catégories achetées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37620" y="8359397"/>
            <a:ext cx="8408920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 boxplot montre que certaines catégories sont associées à des groupes d’âge différents. La catégorie 2 semble être davantage achetée par des clients plus jeunes.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69E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48226" y="1476478"/>
            <a:ext cx="7041302" cy="7334044"/>
            <a:chOff x="0" y="0"/>
            <a:chExt cx="1069836" cy="11143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9836" cy="1114315"/>
            </a:xfrm>
            <a:custGeom>
              <a:avLst/>
              <a:gdLst/>
              <a:ahLst/>
              <a:cxnLst/>
              <a:rect r="r" b="b" t="t" l="l"/>
              <a:pathLst>
                <a:path h="1114315" w="1069836">
                  <a:moveTo>
                    <a:pt x="57174" y="0"/>
                  </a:moveTo>
                  <a:lnTo>
                    <a:pt x="1012662" y="0"/>
                  </a:lnTo>
                  <a:cubicBezTo>
                    <a:pt x="1027826" y="0"/>
                    <a:pt x="1042368" y="6024"/>
                    <a:pt x="1053090" y="16746"/>
                  </a:cubicBezTo>
                  <a:cubicBezTo>
                    <a:pt x="1063813" y="27468"/>
                    <a:pt x="1069836" y="42011"/>
                    <a:pt x="1069836" y="57174"/>
                  </a:cubicBezTo>
                  <a:lnTo>
                    <a:pt x="1069836" y="1057141"/>
                  </a:lnTo>
                  <a:cubicBezTo>
                    <a:pt x="1069836" y="1072304"/>
                    <a:pt x="1063813" y="1086847"/>
                    <a:pt x="1053090" y="1097569"/>
                  </a:cubicBezTo>
                  <a:cubicBezTo>
                    <a:pt x="1042368" y="1108291"/>
                    <a:pt x="1027826" y="1114315"/>
                    <a:pt x="1012662" y="1114315"/>
                  </a:cubicBezTo>
                  <a:lnTo>
                    <a:pt x="57174" y="1114315"/>
                  </a:lnTo>
                  <a:cubicBezTo>
                    <a:pt x="42011" y="1114315"/>
                    <a:pt x="27468" y="1108291"/>
                    <a:pt x="16746" y="1097569"/>
                  </a:cubicBezTo>
                  <a:cubicBezTo>
                    <a:pt x="6024" y="1086847"/>
                    <a:pt x="0" y="1072304"/>
                    <a:pt x="0" y="1057141"/>
                  </a:cubicBezTo>
                  <a:lnTo>
                    <a:pt x="0" y="57174"/>
                  </a:lnTo>
                  <a:cubicBezTo>
                    <a:pt x="0" y="42011"/>
                    <a:pt x="6024" y="27468"/>
                    <a:pt x="16746" y="16746"/>
                  </a:cubicBezTo>
                  <a:cubicBezTo>
                    <a:pt x="27468" y="6024"/>
                    <a:pt x="42011" y="0"/>
                    <a:pt x="57174" y="0"/>
                  </a:cubicBezTo>
                  <a:close/>
                </a:path>
              </a:pathLst>
            </a:custGeom>
            <a:blipFill>
              <a:blip r:embed="rId2">
                <a:alphaModFix amt="96000"/>
              </a:blip>
              <a:stretch>
                <a:fillRect l="0" t="-21940" r="0" b="-2194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877565" y="1543153"/>
            <a:ext cx="7279833" cy="1072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2"/>
              </a:lnSpc>
            </a:pPr>
            <a:r>
              <a:rPr lang="en-US" sz="752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7098652" y="1028700"/>
            <a:ext cx="713864" cy="8229630"/>
            <a:chOff x="0" y="0"/>
            <a:chExt cx="951819" cy="1097284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951819" cy="10972840"/>
              <a:chOff x="0" y="0"/>
              <a:chExt cx="188014" cy="216747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88014" cy="2167474"/>
              </a:xfrm>
              <a:custGeom>
                <a:avLst/>
                <a:gdLst/>
                <a:ahLst/>
                <a:cxnLst/>
                <a:rect r="r" b="b" t="t" l="l"/>
                <a:pathLst>
                  <a:path h="2167474" w="188014">
                    <a:moveTo>
                      <a:pt x="94007" y="0"/>
                    </a:moveTo>
                    <a:lnTo>
                      <a:pt x="94007" y="0"/>
                    </a:lnTo>
                    <a:cubicBezTo>
                      <a:pt x="118939" y="0"/>
                      <a:pt x="142850" y="9904"/>
                      <a:pt x="160480" y="27534"/>
                    </a:cubicBezTo>
                    <a:cubicBezTo>
                      <a:pt x="178109" y="45164"/>
                      <a:pt x="188014" y="69075"/>
                      <a:pt x="188014" y="94007"/>
                    </a:cubicBezTo>
                    <a:lnTo>
                      <a:pt x="188014" y="2073468"/>
                    </a:lnTo>
                    <a:cubicBezTo>
                      <a:pt x="188014" y="2125386"/>
                      <a:pt x="145925" y="2167474"/>
                      <a:pt x="94007" y="2167474"/>
                    </a:cubicBezTo>
                    <a:lnTo>
                      <a:pt x="94007" y="2167474"/>
                    </a:lnTo>
                    <a:cubicBezTo>
                      <a:pt x="42088" y="2167474"/>
                      <a:pt x="0" y="2125386"/>
                      <a:pt x="0" y="2073468"/>
                    </a:cubicBezTo>
                    <a:lnTo>
                      <a:pt x="0" y="94007"/>
                    </a:lnTo>
                    <a:cubicBezTo>
                      <a:pt x="0" y="42088"/>
                      <a:pt x="42088" y="0"/>
                      <a:pt x="94007" y="0"/>
                    </a:cubicBezTo>
                    <a:close/>
                  </a:path>
                </a:pathLst>
              </a:custGeom>
              <a:solidFill>
                <a:srgbClr val="A27E62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85725"/>
                <a:ext cx="188014" cy="2253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AutoShape 9" id="9"/>
            <p:cNvSpPr/>
            <p:nvPr/>
          </p:nvSpPr>
          <p:spPr>
            <a:xfrm>
              <a:off x="501310" y="1576551"/>
              <a:ext cx="0" cy="2813181"/>
            </a:xfrm>
            <a:prstGeom prst="line">
              <a:avLst/>
            </a:prstGeom>
            <a:ln cap="flat" w="50800">
              <a:solidFill>
                <a:srgbClr val="E6B372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0" id="10"/>
            <p:cNvGrpSpPr/>
            <p:nvPr/>
          </p:nvGrpSpPr>
          <p:grpSpPr>
            <a:xfrm rot="0">
              <a:off x="148801" y="506399"/>
              <a:ext cx="654218" cy="654218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6B372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299118" y="630086"/>
              <a:ext cx="353584" cy="406844"/>
            </a:xfrm>
            <a:custGeom>
              <a:avLst/>
              <a:gdLst/>
              <a:ahLst/>
              <a:cxnLst/>
              <a:rect r="r" b="b" t="t" l="l"/>
              <a:pathLst>
                <a:path h="406844" w="353584">
                  <a:moveTo>
                    <a:pt x="0" y="0"/>
                  </a:moveTo>
                  <a:lnTo>
                    <a:pt x="353584" y="0"/>
                  </a:lnTo>
                  <a:lnTo>
                    <a:pt x="353584" y="406844"/>
                  </a:lnTo>
                  <a:lnTo>
                    <a:pt x="0" y="4068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-5400000">
              <a:off x="-2508550" y="7294420"/>
              <a:ext cx="5902325" cy="468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i="true" spc="406">
                  <a:solidFill>
                    <a:srgbClr val="00000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La Page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897678" y="2751865"/>
            <a:ext cx="10810449" cy="6506465"/>
            <a:chOff x="0" y="0"/>
            <a:chExt cx="14413932" cy="8675287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4413932" cy="8675287"/>
              <a:chOff x="0" y="0"/>
              <a:chExt cx="2847196" cy="171363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847197" cy="1713637"/>
              </a:xfrm>
              <a:custGeom>
                <a:avLst/>
                <a:gdLst/>
                <a:ahLst/>
                <a:cxnLst/>
                <a:rect r="r" b="b" t="t" l="l"/>
                <a:pathLst>
                  <a:path h="1713637" w="2847197">
                    <a:moveTo>
                      <a:pt x="32227" y="0"/>
                    </a:moveTo>
                    <a:lnTo>
                      <a:pt x="2814970" y="0"/>
                    </a:lnTo>
                    <a:cubicBezTo>
                      <a:pt x="2832768" y="0"/>
                      <a:pt x="2847197" y="14428"/>
                      <a:pt x="2847197" y="32227"/>
                    </a:cubicBezTo>
                    <a:lnTo>
                      <a:pt x="2847197" y="1681410"/>
                    </a:lnTo>
                    <a:cubicBezTo>
                      <a:pt x="2847197" y="1699208"/>
                      <a:pt x="2832768" y="1713637"/>
                      <a:pt x="2814970" y="1713637"/>
                    </a:cubicBezTo>
                    <a:lnTo>
                      <a:pt x="32227" y="1713637"/>
                    </a:lnTo>
                    <a:cubicBezTo>
                      <a:pt x="14428" y="1713637"/>
                      <a:pt x="0" y="1699208"/>
                      <a:pt x="0" y="1681410"/>
                    </a:cubicBezTo>
                    <a:lnTo>
                      <a:pt x="0" y="32227"/>
                    </a:lnTo>
                    <a:cubicBezTo>
                      <a:pt x="0" y="14428"/>
                      <a:pt x="14428" y="0"/>
                      <a:pt x="32227" y="0"/>
                    </a:cubicBezTo>
                    <a:close/>
                  </a:path>
                </a:pathLst>
              </a:custGeom>
              <a:solidFill>
                <a:srgbClr val="E6B372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47625"/>
                <a:ext cx="2847196" cy="17612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1639990" y="239410"/>
              <a:ext cx="12268739" cy="67791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5"/>
                </a:lnSpc>
              </a:pPr>
            </a:p>
            <a:p>
              <a:pPr algn="l" marL="0" indent="0" lvl="0">
                <a:lnSpc>
                  <a:spcPts val="2995"/>
                </a:lnSpc>
              </a:pPr>
              <a:r>
                <a:rPr lang="en-US" b="true" sz="213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✓  </a:t>
              </a:r>
              <a:r>
                <a:rPr lang="en-US" sz="213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Le ch</a:t>
              </a:r>
              <a:r>
                <a:rPr lang="en-US" sz="213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iffre d’affaires présente des variations dans le temps avec une tendance globale identifiable grâce à la moyenne mobile.</a:t>
              </a:r>
            </a:p>
            <a:p>
              <a:pPr algn="l">
                <a:lnSpc>
                  <a:spcPts val="2995"/>
                </a:lnSpc>
              </a:pPr>
            </a:p>
            <a:p>
              <a:pPr algn="l" marL="0" indent="0" lvl="0">
                <a:lnSpc>
                  <a:spcPts val="2995"/>
                </a:lnSpc>
              </a:pPr>
              <a:r>
                <a:rPr lang="en-US" b="true" sz="213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✓</a:t>
              </a:r>
              <a:r>
                <a:rPr lang="en-US" sz="213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Certaines catégories et certains produits contribuent davantage au chiffre d’affaires.</a:t>
              </a:r>
            </a:p>
            <a:p>
              <a:pPr algn="l">
                <a:lnSpc>
                  <a:spcPts val="2995"/>
                </a:lnSpc>
              </a:pPr>
            </a:p>
            <a:p>
              <a:pPr algn="l" marL="0" indent="0" lvl="0">
                <a:lnSpc>
                  <a:spcPts val="2995"/>
                </a:lnSpc>
              </a:pPr>
              <a:r>
                <a:rPr lang="en-US" b="true" sz="213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✓</a:t>
              </a:r>
              <a:r>
                <a:rPr lang="en-US" sz="213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 Le chiffre d’affaires est concentré sur une partie des clients, qui génère une proportion importante des ventes.</a:t>
              </a:r>
            </a:p>
            <a:p>
              <a:pPr algn="l">
                <a:lnSpc>
                  <a:spcPts val="2995"/>
                </a:lnSpc>
              </a:pPr>
            </a:p>
            <a:p>
              <a:pPr algn="l">
                <a:lnSpc>
                  <a:spcPts val="2995"/>
                </a:lnSpc>
              </a:pPr>
              <a:r>
                <a:rPr lang="en-US" sz="213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✓</a:t>
              </a:r>
              <a:r>
                <a:rPr lang="en-US" sz="213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Les analyses statistiques montrent des relations significatives entre certaines variables, mais leur impact réel reste parfois limité.</a:t>
              </a:r>
            </a:p>
            <a:p>
              <a:pPr algn="l">
                <a:lnSpc>
                  <a:spcPts val="2155"/>
                </a:lnSpc>
              </a:pPr>
            </a:p>
            <a:p>
              <a:pPr algn="l">
                <a:lnSpc>
                  <a:spcPts val="2995"/>
                </a:lnSpc>
              </a:pP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639990" y="6664890"/>
              <a:ext cx="12471820" cy="14719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Ces résultats permettent de mieux comprendre les comportements clients et constituent une aide à la prise de décision marketing et commerciale.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5240828" y="3169360"/>
            <a:ext cx="1313700" cy="3948279"/>
          </a:xfrm>
          <a:custGeom>
            <a:avLst/>
            <a:gdLst/>
            <a:ahLst/>
            <a:cxnLst/>
            <a:rect r="r" b="b" t="t" l="l"/>
            <a:pathLst>
              <a:path h="3948279" w="1313700">
                <a:moveTo>
                  <a:pt x="0" y="0"/>
                </a:moveTo>
                <a:lnTo>
                  <a:pt x="1313700" y="0"/>
                </a:lnTo>
                <a:lnTo>
                  <a:pt x="1313700" y="3948280"/>
                </a:lnTo>
                <a:lnTo>
                  <a:pt x="0" y="39482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DAHKCWtfsts</dc:identifier>
  <dcterms:modified xsi:type="dcterms:W3CDTF">2011-08-01T06:04:30Z</dcterms:modified>
  <cp:revision>1</cp:revision>
  <dc:title>P9</dc:title>
</cp:coreProperties>
</file>